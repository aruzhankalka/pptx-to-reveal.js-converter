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93" r:id="rId2"/>
    <p:sldId id="503" r:id="rId3"/>
    <p:sldId id="494" r:id="rId4"/>
    <p:sldId id="495" r:id="rId5"/>
    <p:sldId id="496" r:id="rId6"/>
    <p:sldId id="498" r:id="rId7"/>
    <p:sldId id="499" r:id="rId8"/>
    <p:sldId id="500" r:id="rId9"/>
    <p:sldId id="735" r:id="rId10"/>
    <p:sldId id="765" r:id="rId11"/>
    <p:sldId id="497" r:id="rId12"/>
    <p:sldId id="501" r:id="rId13"/>
    <p:sldId id="502" r:id="rId14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guideOptions xmlns:mc="http://schemas.openxmlformats.org/markup-compatibility/2006" xmlns:p14="http://schemas.microsoft.com/office/powerpoint/2010/main" xmlns:p15="http://schemas.microsoft.com/office/powerpoint/2012/main" xmlns:pr="smNativeData" xmlns="smNativeData" dt="177046089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2" autoAdjust="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96" y="174"/>
      </p:cViewPr>
      <p:guideLst/>
    </p:cSldViewPr>
  </p:slideViewPr>
  <p:outlineViewPr>
    <p:cViewPr>
      <p:scale>
        <a:sx n="33" d="100"/>
        <a:sy n="33" d="100"/>
      </p:scale>
      <p:origin x="0" y="-390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7" d="100"/>
        <a:sy n="17" d="100"/>
      </p:scale>
      <p:origin x="0" y="0"/>
    </p:cViewPr>
  </p:sorterViewPr>
  <p:notesViewPr>
    <p:cSldViewPr snapToGrid="0" snapToObjects="1">
      <p:cViewPr>
        <p:scale>
          <a:sx n="99" d="100"/>
          <a:sy n="99" d="100"/>
        </p:scale>
        <p:origin x="382" y="1072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3" name="Datums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sz="quarter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31F5-BBFA-18C7-B4F5-4D927FBB4218}" type="datetime1">
              <a:t>6/22/2026</a:t>
            </a:fld>
            <a:endParaRPr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AAAA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B90-DEFA-18FD-B4F5-28A845BB42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3" name="Datums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C3D-73FA-18FA-B4F5-85AF42BB42D0}" type="datetime1">
              <a:t>6/22/2026</a:t>
            </a:fld>
            <a:endParaRPr/>
          </a:p>
        </p:txBody>
      </p:sp>
      <p:sp>
        <p:nvSpPr>
          <p:cNvPr id="4" name="Folienbildplatzhalter 3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de-de"/>
            </a:pPr>
            <a:endParaRPr/>
          </a:p>
        </p:txBody>
      </p:sp>
      <p:sp>
        <p:nvSpPr>
          <p:cNvPr id="5" name="Notiz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Zweite Ebene</a:t>
            </a:r>
          </a:p>
          <a:p>
            <a:pPr lvl="2">
              <a:defRPr lang="de-de"/>
            </a:pPr>
            <a:r>
              <a:t>Dritte Ebene</a:t>
            </a:r>
          </a:p>
          <a:p>
            <a:pPr lvl="3">
              <a:defRPr lang="de-de"/>
            </a:pPr>
            <a:r>
              <a:t>Vierte Ebene</a:t>
            </a:r>
          </a:p>
          <a:p>
            <a:pPr lvl="4">
              <a:defRPr lang="de-de"/>
            </a:pPr>
            <a:r>
              <a:t>Fünfte Ebene</a:t>
            </a:r>
          </a:p>
        </p:txBody>
      </p:sp>
      <p:sp>
        <p:nvSpPr>
          <p:cNvPr id="6" name="Fußzeile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Foliennummern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7269-27FA-1884-B4F5-D1D13CBB428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de-de"/>
            </a:pPr>
            <a:r>
              <a:t>Ca 25 Teilnehmer in der ersten Stunde, fast alle waren auch in der ersten Übung</a:t>
            </a:r>
          </a:p>
        </p:txBody>
      </p:sp>
      <p:sp>
        <p:nvSpPr>
          <p:cNvPr id="4" name="Foliennummer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de-de"/>
            </a:pPr>
            <a:fld id="{174D00F4-BAFA-18F6-B4F5-4CA34EBB4219}" type="slidenum">
              <a:t>1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7 </a:t>
            </a:r>
            <a:r>
              <a:rPr lang="de-DE" dirty="0" err="1"/>
              <a:t>iterationen</a:t>
            </a:r>
            <a:r>
              <a:rPr lang="de-DE" dirty="0"/>
              <a:t> hier dargestellt. Davor nochmal 3-4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1D90A-D2C6-B945-95CF-B20626C808B4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077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el">
    <p:bg>
      <p:bgPr>
        <a:blipFill>
          <a:blip r:embed="rId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EAAAACAAAA////AP///wgAAAAAAAAAAIcDbcWIqANPm4J0lZtxJk0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///wD///8BAAAAAAAAAAAAAAAAAAAAAAAAAAAAAAAAAAAAAAAAAAAAAAACf39/AOfm5gPMzMwAwMD/AH9/fwAAAAAAAAAAAAAAAAD///8AAAAAACEAAAAYAAAAFAAAAIApAAAAAAAAAEsAADA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746240" y="0"/>
            <a:ext cx="5445760" cy="6858000"/>
          </a:xfrm>
          <a:prstGeom prst="rect">
            <a:avLst/>
          </a:prstGeom>
          <a:blipFill>
            <a:blip r:embed="rId5"/>
            <a:srcRect/>
            <a:tile sx="100000" sy="100000" algn="tl"/>
          </a:blipFill>
          <a:ln>
            <a:noFill/>
          </a:ln>
          <a:effectLst/>
        </p:spPr>
      </p:pic>
      <p:sp>
        <p:nvSpPr>
          <p:cNvPr id="3" name="Rechteck 8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sA4AAAAAAAANOAAAIxwAABAAAAAmAAAACAAAAP//////////"/>
              </a:ext>
            </a:extLst>
          </p:cNvSpPr>
          <p:nvPr/>
        </p:nvSpPr>
        <p:spPr>
          <a:xfrm>
            <a:off x="2387600" y="0"/>
            <a:ext cx="6724015" cy="45739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Rechteck 6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/f///wAAAADxKQAAMCoAABAAAAAmAAAACAAAAP//////////"/>
              </a:ext>
            </a:extLst>
          </p:cNvSpPr>
          <p:nvPr/>
        </p:nvSpPr>
        <p:spPr>
          <a:xfrm>
            <a:off x="-1905" y="0"/>
            <a:ext cx="68199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Untertitel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wAMAAL0VAADVGwAAaB0AABAAAAAmAAAACAAAAAGAAAAAAAAA"/>
              </a:ext>
            </a:extLst>
          </p:cNvSpPr>
          <p:nvPr>
            <p:ph type="subTitle" idx="1"/>
          </p:nvPr>
        </p:nvSpPr>
        <p:spPr>
          <a:xfrm>
            <a:off x="609600" y="3533775"/>
            <a:ext cx="3914775" cy="1246505"/>
          </a:xfrm>
        </p:spPr>
        <p:txBody>
          <a:bodyPr/>
          <a:lstStyle>
            <a:lvl1pPr marL="0" indent="0" algn="l">
              <a:buNone/>
              <a:defRPr lang="de-de" sz="2400" b="0" i="0" cap="none">
                <a:latin typeface="Sora Light" charset="0"/>
                <a:ea typeface="Source Sans Pro" pitchFamily="2" charset="0"/>
                <a:cs typeface="Source Sans Pro" pitchFamily="2" charset="0"/>
              </a:defRPr>
            </a:lvl1pPr>
            <a:lvl2pPr marL="457200" indent="0" algn="ctr">
              <a:buNone/>
              <a:defRPr lang="de-de" sz="2000" cap="none"/>
            </a:lvl2pPr>
            <a:lvl3pPr marL="914400" indent="0" algn="ctr">
              <a:buNone/>
              <a:defRPr lang="de-de" sz="1800" cap="none"/>
            </a:lvl3pPr>
            <a:lvl4pPr marL="1371600" indent="0" algn="ctr">
              <a:buNone/>
              <a:defRPr lang="de-de" sz="1600" cap="none"/>
            </a:lvl4pPr>
            <a:lvl5pPr marL="1828800" indent="0" algn="ctr">
              <a:buNone/>
              <a:defRPr lang="de-de" sz="1600" cap="none"/>
            </a:lvl5pPr>
            <a:lvl6pPr marL="2286000" indent="0" algn="ctr">
              <a:buNone/>
              <a:defRPr lang="de-de" sz="1600" cap="none"/>
            </a:lvl6pPr>
            <a:lvl7pPr marL="2743200" indent="0" algn="ctr">
              <a:buNone/>
              <a:defRPr lang="de-de" sz="1600" cap="none"/>
            </a:lvl7pPr>
            <a:lvl8pPr marL="3200400" indent="0" algn="ctr">
              <a:buNone/>
              <a:defRPr lang="de-de" sz="1600" cap="none"/>
            </a:lvl8pPr>
            <a:lvl9pPr marL="3657600" indent="0" algn="ctr">
              <a:buNone/>
              <a:defRPr lang="de-de" sz="1600" cap="none"/>
            </a:lvl9pPr>
          </a:lstStyle>
          <a:p>
            <a:pPr>
              <a:defRPr lang="de-de"/>
            </a:pPr>
            <a:r>
              <a:t>René Peinl</a:t>
            </a:r>
          </a:p>
        </p:txBody>
      </p:sp>
      <p:pic>
        <p:nvPicPr>
          <p:cNvPr id="6" name="Grafik 1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cCAACsHgAANxEAACAoAAAQAAAAJgAAAAgAAAD//////////w==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565" y="4986020"/>
            <a:ext cx="2468880" cy="15367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swMAAPMIAADAIQAAeRQAABAAAAAmAAAACAAAAAGgAAAAAAAA"/>
              </a:ext>
            </a:extLst>
          </p:cNvSpPr>
          <p:nvPr>
            <p:ph idx="10"/>
          </p:nvPr>
        </p:nvSpPr>
        <p:spPr>
          <a:xfrm>
            <a:off x="601345" y="1454785"/>
            <a:ext cx="4885055" cy="187325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2800" b="1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Wir schaffen Grundlagen</a:t>
            </a:r>
          </a:p>
          <a:p>
            <a:pPr>
              <a:defRPr lang="de-de"/>
            </a:pPr>
            <a:r>
              <a:t>für die Möglichkeiten </a:t>
            </a:r>
          </a:p>
          <a:p>
            <a:pPr>
              <a:defRPr lang="de-de"/>
            </a:pPr>
            <a:r>
              <a:t>der Zukunft </a:t>
            </a:r>
          </a:p>
        </p:txBody>
      </p:sp>
      <p:sp>
        <p:nvSpPr>
          <p:cNvPr id="8" name="Textplatzhalter 2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Hk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qC4AAMwSAAD5PAAA1SAAABAAAAAmAAAACAAAAAGgAAB/AAAA"/>
              </a:ext>
            </a:extLst>
          </p:cNvSpPr>
          <p:nvPr>
            <p:ph idx="14"/>
          </p:nvPr>
        </p:nvSpPr>
        <p:spPr>
          <a:xfrm>
            <a:off x="7584440" y="3055620"/>
            <a:ext cx="2327275" cy="2281555"/>
          </a:xfrm>
          <a:solidFill>
            <a:srgbClr val="0BDA7E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9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sy4AAMwSAAANOAAAIhwAABAAAAAmAAAACAAAAAGgAAB/AAAA"/>
              </a:ext>
            </a:extLst>
          </p:cNvSpPr>
          <p:nvPr>
            <p:ph idx="13"/>
          </p:nvPr>
        </p:nvSpPr>
        <p:spPr>
          <a:xfrm>
            <a:off x="7591425" y="3055620"/>
            <a:ext cx="1520190" cy="1517650"/>
          </a:xfrm>
          <a:solidFill>
            <a:srgbClr val="0BDA7E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2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9CkAACMcAACzLgAAlyUAABAAAAAmAAAACAAAAAGgAAB/AAAA"/>
              </a:ext>
            </a:extLst>
          </p:cNvSpPr>
          <p:nvPr>
            <p:ph idx="15"/>
          </p:nvPr>
        </p:nvSpPr>
        <p:spPr>
          <a:xfrm>
            <a:off x="6819900" y="4573905"/>
            <a:ext cx="771525" cy="1536700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hhcAAAAAAAAASwAAMCoAABAAAAAmAAAACAAAAP//////////"/>
              </a:ext>
            </a:extLst>
          </p:cNvSpPr>
          <p:nvPr/>
        </p:nvSpPr>
        <p:spPr>
          <a:xfrm>
            <a:off x="3823970" y="0"/>
            <a:ext cx="836803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Grafik 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/P///w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AAAAAAjxcAADAqAAAQAAAAJgAAAAgAAAD//////////w=="/>
              </a:ext>
            </a:extLst>
          </p:cNvPicPr>
          <p:nvPr/>
        </p:nvPicPr>
        <p:blipFill>
          <a:blip r:embed="rId3"/>
          <a:srcRect b="-40"/>
          <a:stretch>
            <a:fillRect/>
          </a:stretch>
        </p:blipFill>
        <p:spPr>
          <a:xfrm>
            <a:off x="0" y="0"/>
            <a:ext cx="3829685" cy="6858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Rechteck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fgkAAIUHAABnJgAAlAkAABAAAAAmAAAACAAAAP//////////"/>
              </a:ext>
            </a:extLst>
          </p:cNvSpPr>
          <p:nvPr/>
        </p:nvSpPr>
        <p:spPr>
          <a:xfrm>
            <a:off x="1543050" y="1222375"/>
            <a:ext cx="4699635" cy="334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tabLst/>
              <a:defRPr lang="de-de" sz="1200" b="0" i="0" kern="1" cap="none" spc="2" baseline="0">
                <a:solidFill>
                  <a:schemeClr val="tx1"/>
                </a:solidFill>
                <a:latin typeface="Sora Light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5" name="Textplatzhalter 1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UAAAFcCAAAzSAAA+QMAABAAAAAmAAAACAAAAAGgAAAAAAAA"/>
              </a:ext>
            </a:extLst>
          </p:cNvSpPr>
          <p:nvPr>
            <p:ph idx="15"/>
          </p:nvPr>
        </p:nvSpPr>
        <p:spPr>
          <a:xfrm>
            <a:off x="10531475" y="380365"/>
            <a:ext cx="1205230" cy="2654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/>
            </a:pPr>
            <a:r>
              <a:t>THEMA DER FOLIE</a:t>
            </a:r>
          </a:p>
          <a:p>
            <a:pPr>
              <a:defRPr lang="de-de"/>
            </a:pPr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AUOAADLPwAAzygAABAAAAAmAAAACAAAAAGgAAAAAAAA"/>
              </a:ext>
            </a:extLst>
          </p:cNvSpPr>
          <p:nvPr>
            <p:ph idx="16"/>
          </p:nvPr>
        </p:nvSpPr>
        <p:spPr>
          <a:xfrm>
            <a:off x="4366260" y="2279015"/>
            <a:ext cx="6003925" cy="43548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1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buNone/>
              <a:defRPr lang="de-de" cap="none"/>
            </a:lvl2pPr>
            <a:lvl3pPr marL="914400" indent="0">
              <a:buNone/>
              <a:defRPr lang="de-de" cap="none"/>
            </a:lvl3pPr>
            <a:lvl4pPr marL="1371600" indent="0">
              <a:buNone/>
              <a:defRPr lang="de-de" cap="none"/>
            </a:lvl4pPr>
            <a:lvl5pPr marL="1828800" indent="0">
              <a:buNone/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endParaRPr/>
          </a:p>
        </p:txBody>
      </p:sp>
      <p:sp>
        <p:nvSpPr>
          <p:cNvPr id="7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l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LkIAACiRwAAVAwAABAAAAAmAAAACAAAAAGgAAAAAAAA"/>
              </a:ext>
            </a:extLst>
          </p:cNvSpPr>
          <p:nvPr>
            <p:ph type="title"/>
          </p:nvPr>
        </p:nvSpPr>
        <p:spPr>
          <a:xfrm>
            <a:off x="4366260" y="1417955"/>
            <a:ext cx="7278370" cy="58610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0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Agenda</a:t>
            </a:r>
          </a:p>
        </p:txBody>
      </p:sp>
      <p:sp>
        <p:nvSpPr>
          <p:cNvPr id="8" name="Textplatzhalter 1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KGL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GL6AP///wEAAAAAAAAAAAAAAAAAAAAAAAAAAAAAAAAAAAAAAAAAAAAAAAJ/f38A5+bmA8zMzADAwP8Af39/AAAAAAAAAAAAAAAAAAAAAAAAAAAAIQAAABgAAAAUAAAAkBcAAAAAAAABHAAAqwcAABAAAAAmAAAACAAAAAGgAAB/AAAA"/>
              </a:ext>
            </a:extLst>
          </p:cNvSpPr>
          <p:nvPr>
            <p:ph idx="19"/>
          </p:nvPr>
        </p:nvSpPr>
        <p:spPr>
          <a:xfrm>
            <a:off x="3830320" y="0"/>
            <a:ext cx="721995" cy="1246505"/>
          </a:xfrm>
          <a:solidFill>
            <a:srgbClr val="2862FA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NRUAAE0FAACbFwAA9QkAABAAAAAmAAAACAAAAAGgAAB/AAAA"/>
              </a:ext>
            </a:extLst>
          </p:cNvSpPr>
          <p:nvPr>
            <p:ph idx="20"/>
          </p:nvPr>
        </p:nvSpPr>
        <p:spPr>
          <a:xfrm>
            <a:off x="3447415" y="861695"/>
            <a:ext cx="389890" cy="756920"/>
          </a:xfrm>
          <a:solidFill>
            <a:srgbClr val="FF3E4F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1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hRcAAKEHAADhGQAA9QkAABAAAAAmAAAACAAAAAGgAAB/AAAA"/>
              </a:ext>
            </a:extLst>
          </p:cNvSpPr>
          <p:nvPr>
            <p:ph idx="21"/>
          </p:nvPr>
        </p:nvSpPr>
        <p:spPr>
          <a:xfrm>
            <a:off x="3823335" y="1240155"/>
            <a:ext cx="383540" cy="378460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1" name="Folien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JxZ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xZLAP///wEAAAAAAAAAAAAAAAAAAAAAAAAAAAAAAAAAAAAAAAAAAAAAAAJ/f38A5+bmA8zMzADAwP8Af39/AAAAAAAAAAAAAAAAAAAAAAAAAAAAIQAAABgAAAAUAAAAhRcAAE0FAADhGQAAoQcAABAAAAAmAAAACAAAAAGgAAB/AAAA"/>
              </a:ext>
            </a:extLst>
          </p:cNvSpPr>
          <p:nvPr>
            <p:ph idx="22"/>
          </p:nvPr>
        </p:nvSpPr>
        <p:spPr>
          <a:xfrm>
            <a:off x="3823335" y="861695"/>
            <a:ext cx="383540" cy="378460"/>
          </a:xfrm>
          <a:solidFill>
            <a:srgbClr val="27164B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seite mit Grafik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2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0AX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AGIgAAeQwAABAAAAAmAAAACAAAAAGgAAAAAAAA"/>
              </a:ext>
            </a:extLst>
          </p:cNvSpPr>
          <p:nvPr>
            <p:ph type="title"/>
          </p:nvPr>
        </p:nvSpPr>
        <p:spPr>
          <a:xfrm>
            <a:off x="1837690" y="743585"/>
            <a:ext cx="3693160" cy="12839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0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Hier steht eine Überschrift</a:t>
            </a:r>
            <a:br/>
            <a:r>
              <a:t>zur Hochschule Hof</a:t>
            </a:r>
          </a:p>
        </p:txBody>
      </p:sp>
      <p:sp>
        <p:nvSpPr>
          <p:cNvPr id="4" name="Inhalts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0ycAAMcJAADSRQAA9SMAABAAAAAmAAAACAAAAAGgAAAAAAAA"/>
              </a:ext>
            </a:extLst>
          </p:cNvSpPr>
          <p:nvPr>
            <p:ph idx="12"/>
          </p:nvPr>
        </p:nvSpPr>
        <p:spPr>
          <a:xfrm>
            <a:off x="6473825" y="1589405"/>
            <a:ext cx="4876165" cy="42557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9144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3716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18288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5" name="Textplatzhalter 2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4NAADXIAAA9SMAABAAAAAmAAAACAAAAAGgAAAAAAAA"/>
              </a:ext>
            </a:extLst>
          </p:cNvSpPr>
          <p:nvPr>
            <p:ph idx="17"/>
          </p:nvPr>
        </p:nvSpPr>
        <p:spPr>
          <a:xfrm>
            <a:off x="1837690" y="2213610"/>
            <a:ext cx="3500755" cy="36315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6" name="Textplatzhalter 1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UAAAFcCAAAzSAAA+QMAABAAAAAmAAAACAAAAAGgAAAAAAAA"/>
              </a:ext>
            </a:extLst>
          </p:cNvSpPr>
          <p:nvPr>
            <p:ph idx="15"/>
          </p:nvPr>
        </p:nvSpPr>
        <p:spPr>
          <a:xfrm>
            <a:off x="10531475" y="380365"/>
            <a:ext cx="1205230" cy="2654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/>
            </a:pPr>
            <a:r>
              <a:t>GRAFIK</a:t>
            </a:r>
          </a:p>
        </p:txBody>
      </p:sp>
      <p:sp>
        <p:nvSpPr>
          <p:cNvPr id="7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8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3406-48FA-18C2-B4F5-BE977ABB42EB}" type="slidenum">
              <a:t>‹#›</a:t>
            </a:fld>
            <a:endParaRPr/>
          </a:p>
        </p:txBody>
      </p:sp>
      <p:sp>
        <p:nvSpPr>
          <p:cNvPr id="9" name="Inhalts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aDIAAIInAADYRQAAxCgAABAAAAAmAAAACAAAAAGgAAAAAAAA"/>
              </a:ext>
            </a:extLst>
          </p:cNvSpPr>
          <p:nvPr>
            <p:ph idx="13"/>
          </p:nvPr>
        </p:nvSpPr>
        <p:spPr>
          <a:xfrm>
            <a:off x="8194040" y="6422390"/>
            <a:ext cx="3159760" cy="2044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*Quellenangabe</a:t>
            </a:r>
          </a:p>
        </p:txBody>
      </p:sp>
      <p:sp>
        <p:nvSpPr>
          <p:cNvPr id="10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2AQAAAAAAAB7CQAAQg4AABAAAAAmAAAACAAAAAGgAAB/AAAA"/>
              </a:ext>
            </a:extLst>
          </p:cNvSpPr>
          <p:nvPr>
            <p:ph idx="18"/>
          </p:nvPr>
        </p:nvSpPr>
        <p:spPr>
          <a:xfrm>
            <a:off x="787400" y="0"/>
            <a:ext cx="753745" cy="2317750"/>
          </a:xfrm>
          <a:solidFill>
            <a:srgbClr val="FECE02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seite langer Tex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3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GgAAAAAAAA"/>
              </a:ext>
            </a:extLst>
          </p:cNvSpPr>
          <p:nvPr>
            <p:ph type="title"/>
          </p:nvPr>
        </p:nvSpPr>
        <p:spPr>
          <a:xfrm>
            <a:off x="1837690" y="743585"/>
            <a:ext cx="8354695" cy="7804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4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Hier steht eine Überschrift</a:t>
            </a:r>
            <a:br/>
            <a:r>
              <a:t>zur Hochschule Hof</a:t>
            </a:r>
          </a:p>
        </p:txBody>
      </p:sp>
      <p:sp>
        <p:nvSpPr>
          <p:cNvPr id="4" name="Textplatzhalter 2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YRQAAXiUAABAAAAAmAAAACAAAAAGgAAAAAAAA"/>
              </a:ext>
            </a:extLst>
          </p:cNvSpPr>
          <p:nvPr>
            <p:ph idx="17"/>
          </p:nvPr>
        </p:nvSpPr>
        <p:spPr>
          <a:xfrm>
            <a:off x="1291590" y="1848485"/>
            <a:ext cx="10062210" cy="42259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5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6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056-18FA-18F6-B4F5-EEA34EBB42BB}" type="slidenum">
              <a:t>‹#›</a:t>
            </a:fld>
            <a:endParaRPr/>
          </a:p>
        </p:txBody>
      </p:sp>
      <p:sp>
        <p:nvSpPr>
          <p:cNvPr id="7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gAAB/AAAA"/>
              </a:ext>
            </a:extLst>
          </p:cNvSpPr>
          <p:nvPr>
            <p:ph idx="19"/>
          </p:nvPr>
        </p:nvSpPr>
        <p:spPr>
          <a:xfrm>
            <a:off x="0" y="1115060"/>
            <a:ext cx="738505" cy="733425"/>
          </a:xfrm>
          <a:solidFill>
            <a:srgbClr val="FECE02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8" name="Textplatzhalter 1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gAAB/AAAA"/>
              </a:ext>
            </a:extLst>
          </p:cNvSpPr>
          <p:nvPr>
            <p:ph idx="20"/>
          </p:nvPr>
        </p:nvSpPr>
        <p:spPr>
          <a:xfrm>
            <a:off x="357505" y="743585"/>
            <a:ext cx="754380" cy="733425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gAAB/AAAA"/>
              </a:ext>
            </a:extLst>
          </p:cNvSpPr>
          <p:nvPr>
            <p:ph idx="21"/>
          </p:nvPr>
        </p:nvSpPr>
        <p:spPr>
          <a:xfrm>
            <a:off x="357505" y="1115060"/>
            <a:ext cx="381000" cy="361950"/>
          </a:xfrm>
          <a:solidFill>
            <a:srgbClr val="FF3200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pic>
        <p:nvPicPr>
          <p:cNvPr id="10" name="Grafik 1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Y/AACzAQAAfUoAAEY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275570" y="276225"/>
            <a:ext cx="1833245" cy="10687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GgAAAAAAAA"/>
              </a:ext>
            </a:extLst>
          </p:cNvSpPr>
          <p:nvPr>
            <p:ph idx="22"/>
          </p:nvPr>
        </p:nvSpPr>
        <p:spPr>
          <a:xfrm>
            <a:off x="8305800" y="6423025"/>
            <a:ext cx="2949575" cy="2032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2pPr>
            <a:lvl3pPr marL="9144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3pPr>
            <a:lvl4pPr marL="13716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4pPr>
            <a:lvl5pPr marL="18288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  <a:endParaRPr lang="en-us" cap="none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extseite 2-spaltig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3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GgAAAAAAAA"/>
              </a:ext>
            </a:extLst>
          </p:cNvSpPr>
          <p:nvPr>
            <p:ph type="title"/>
          </p:nvPr>
        </p:nvSpPr>
        <p:spPr>
          <a:xfrm>
            <a:off x="1837690" y="743585"/>
            <a:ext cx="8354695" cy="7804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2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Hier steht eine Überschrift</a:t>
            </a:r>
            <a:br/>
            <a:r>
              <a:t>zur Hochschule Hof</a:t>
            </a:r>
          </a:p>
        </p:txBody>
      </p:sp>
      <p:sp>
        <p:nvSpPr>
          <p:cNvPr id="4" name="Textplatzhalter 2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L8LAABRJgAAXiUAABAAAAAmAAAACAAAAAGgAAAAAAAA"/>
              </a:ext>
            </a:extLst>
          </p:cNvSpPr>
          <p:nvPr>
            <p:ph idx="17"/>
          </p:nvPr>
        </p:nvSpPr>
        <p:spPr>
          <a:xfrm>
            <a:off x="1837690" y="1909445"/>
            <a:ext cx="4391025" cy="41649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5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6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4A8D-C3FA-18BC-B4F5-35E904BB4260}" type="slidenum">
              <a:t>‹#›</a:t>
            </a:fld>
            <a:endParaRPr/>
          </a:p>
        </p:txBody>
      </p:sp>
      <p:sp>
        <p:nvSpPr>
          <p:cNvPr id="7" name="Inhalts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aDIAAIInAADYRQAAxCgAABAAAAAmAAAACAAAAAGgAAAAAAAA"/>
              </a:ext>
            </a:extLst>
          </p:cNvSpPr>
          <p:nvPr>
            <p:ph idx="13"/>
          </p:nvPr>
        </p:nvSpPr>
        <p:spPr>
          <a:xfrm>
            <a:off x="8194040" y="6422390"/>
            <a:ext cx="3159760" cy="2044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*Quellenangabe</a:t>
            </a:r>
          </a:p>
        </p:txBody>
      </p:sp>
      <p:sp>
        <p:nvSpPr>
          <p:cNvPr id="8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gAAB/AAAA"/>
              </a:ext>
            </a:extLst>
          </p:cNvSpPr>
          <p:nvPr>
            <p:ph idx="19"/>
          </p:nvPr>
        </p:nvSpPr>
        <p:spPr>
          <a:xfrm>
            <a:off x="0" y="1115060"/>
            <a:ext cx="738505" cy="733425"/>
          </a:xfrm>
          <a:solidFill>
            <a:srgbClr val="FECE02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gAAB/AAAA"/>
              </a:ext>
            </a:extLst>
          </p:cNvSpPr>
          <p:nvPr>
            <p:ph idx="20"/>
          </p:nvPr>
        </p:nvSpPr>
        <p:spPr>
          <a:xfrm>
            <a:off x="357505" y="743585"/>
            <a:ext cx="754380" cy="733425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1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gAAB/AAAA"/>
              </a:ext>
            </a:extLst>
          </p:cNvSpPr>
          <p:nvPr>
            <p:ph idx="21"/>
          </p:nvPr>
        </p:nvSpPr>
        <p:spPr>
          <a:xfrm>
            <a:off x="357505" y="1115060"/>
            <a:ext cx="381000" cy="361950"/>
          </a:xfrm>
          <a:solidFill>
            <a:srgbClr val="FF3200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pic>
        <p:nvPicPr>
          <p:cNvPr id="11" name="Grafik 1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Y/AACzAQAAfUoAAEY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275570" y="276225"/>
            <a:ext cx="1833245" cy="10687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Inhalts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A6Y2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nioAAMALAAChRQAAYCUAABAAAAAmAAAACAAAAAGgAAAAAAAA"/>
              </a:ext>
            </a:extLst>
          </p:cNvSpPr>
          <p:nvPr>
            <p:ph idx="22"/>
          </p:nvPr>
        </p:nvSpPr>
        <p:spPr>
          <a:xfrm>
            <a:off x="6927850" y="1910080"/>
            <a:ext cx="4391025" cy="41656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en-us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en-us"/>
            </a:pPr>
            <a:r>
              <a:rPr lang="de-de" cap="none"/>
              <a:t>Fünfte Ebene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ntak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Grafik 6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UqAAAKAAAABUcAAF8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972935" y="6350"/>
            <a:ext cx="4572000" cy="63938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HYSAADsJAAA7yUAABAAAAAmAAAACAAAAAGgAAAAAAAA"/>
              </a:ext>
            </a:extLst>
          </p:cNvSpPr>
          <p:nvPr>
            <p:ph idx="14"/>
          </p:nvPr>
        </p:nvSpPr>
        <p:spPr>
          <a:xfrm>
            <a:off x="838200" y="3001010"/>
            <a:ext cx="5163820" cy="31654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lnSpc>
                <a:spcPct val="120000"/>
              </a:lnSpc>
              <a:buNone/>
              <a:defRPr lang="de-de" sz="1600" b="1" i="0" cap="none">
                <a:latin typeface="Source Sans Pro Semibold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9144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3716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18288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de-de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Prof. Dr. René Peinl</a:t>
            </a:r>
          </a:p>
          <a:p>
            <a:pPr>
              <a:defRPr lang="de-de"/>
            </a:pPr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Wissenschaftlicher Leiter</a:t>
            </a:r>
            <a:br/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Institut für Informationssysteme</a:t>
            </a:r>
          </a:p>
          <a:p>
            <a:pPr>
              <a:defRPr lang="de-de"/>
            </a:pPr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Phone 	+49 9281 409-4820</a:t>
            </a:r>
            <a:br/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Fax	+49 9281 409-554820</a:t>
            </a:r>
            <a:br/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Raum	G003</a:t>
            </a:r>
          </a:p>
          <a:p>
            <a:pPr>
              <a:defRPr lang="de-de"/>
            </a:pPr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rene.peinl@hof-university.de</a:t>
            </a:r>
          </a:p>
          <a:p>
            <a:pPr>
              <a:defRPr lang="de-de"/>
            </a:pPr>
            <a:endParaRPr lang="de-de" b="0" cap="none">
              <a:latin typeface="Source Sans Pro" pitchFamily="2" charset="0"/>
              <a:ea typeface="Source Sans Pro" pitchFamily="2" charset="0"/>
              <a:cs typeface="Source Sans Pro" pitchFamily="2" charset="0"/>
            </a:endParaRPr>
          </a:p>
        </p:txBody>
      </p:sp>
      <p:sp>
        <p:nvSpPr>
          <p:cNvPr id="5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FcCAACoDAAAqgMAABAAAAAmAAAACAAAAAGgAAAAAAAA"/>
              </a:ext>
            </a:extLst>
          </p:cNvSpPr>
          <p:nvPr>
            <p:ph idx="19"/>
          </p:nvPr>
        </p:nvSpPr>
        <p:spPr>
          <a:xfrm>
            <a:off x="838200" y="380365"/>
            <a:ext cx="1219200" cy="2152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KONTAKT</a:t>
            </a:r>
          </a:p>
        </p:txBody>
      </p:sp>
      <p:sp>
        <p:nvSpPr>
          <p:cNvPr id="6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68AA-E4FA-189E-B4F5-12CB26BB4247}" type="slidenum">
              <a:t>‹#›</a:t>
            </a:fld>
            <a:endParaRPr/>
          </a:p>
        </p:txBody>
      </p:sp>
      <p:sp>
        <p:nvSpPr>
          <p:cNvPr id="7" name="Inhalts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aDIAAIInAADYRQAAxCgAABAAAAAmAAAACAAAAAGgAAAAAAAA"/>
              </a:ext>
            </a:extLst>
          </p:cNvSpPr>
          <p:nvPr>
            <p:ph idx="13"/>
          </p:nvPr>
        </p:nvSpPr>
        <p:spPr>
          <a:xfrm>
            <a:off x="8194040" y="6422390"/>
            <a:ext cx="3159760" cy="2044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*Quellenangabe</a:t>
            </a:r>
          </a:p>
        </p:txBody>
      </p:sp>
      <p:sp>
        <p:nvSpPr>
          <p:cNvPr id="8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9" name="Bild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McEAAAbFwAACAwAABAAAAAmAAAACAAAAAGAAAAAAAAA"/>
              </a:ext>
            </a:extLst>
          </p:cNvSpPr>
          <p:nvPr>
            <p:ph type="pic" sz="quarter" idx="20"/>
          </p:nvPr>
        </p:nvSpPr>
        <p:spPr>
          <a:xfrm>
            <a:off x="838200" y="776605"/>
            <a:ext cx="2917825" cy="1179195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10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hCb3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iCcAAE4jAABRLAAAMCoAABAAAAAmAAAACAAAAAGgAAB/AAAA"/>
              </a:ext>
            </a:extLst>
          </p:cNvSpPr>
          <p:nvPr>
            <p:ph idx="21"/>
          </p:nvPr>
        </p:nvSpPr>
        <p:spPr>
          <a:xfrm>
            <a:off x="6426200" y="5739130"/>
            <a:ext cx="777875" cy="1118870"/>
          </a:xfrm>
          <a:solidFill>
            <a:srgbClr val="0BDA7E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1" name="Textplatzhalter 1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KGL6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MU2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GL6AP///wEAAAAAAAAAAAAAAAAAAAAAAAAAAAAAAAAAAAAAAAAAAAAAAAJ/f38A5+bmA8zMzADAwP8Af39/AAAAAAAAAAAAAAAAAAAAAAAAAAAAIQAAABgAAAAUAAAA2ykAAM8gAADALgAAnSUAABAAAAAmAAAACAAAAAGgAAB/AAAA"/>
              </a:ext>
            </a:extLst>
          </p:cNvSpPr>
          <p:nvPr>
            <p:ph idx="22"/>
          </p:nvPr>
        </p:nvSpPr>
        <p:spPr>
          <a:xfrm>
            <a:off x="6804025" y="5333365"/>
            <a:ext cx="795655" cy="781050"/>
          </a:xfrm>
          <a:solidFill>
            <a:srgbClr val="2862FA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2" name="Textplatzhalter 1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A1N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kAYT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1N6AP///wEAAAAAAAAAAAAAAAAAAAAAAAAAAAAAAAAAAAAAAAAAAAAAAAJ/f38A5+bmA8zMzADAwP8Af39/AAAAAAAAAAAAAAAAAAAAAAAAAAAAIQAAABgAAAAUAAAA2ykAAEYjAABQLAAAniUAABAAAAAmAAAACAAAAAGgAAB/AAAA"/>
              </a:ext>
            </a:extLst>
          </p:cNvSpPr>
          <p:nvPr>
            <p:ph idx="23"/>
          </p:nvPr>
        </p:nvSpPr>
        <p:spPr>
          <a:xfrm>
            <a:off x="6804025" y="5734050"/>
            <a:ext cx="399415" cy="381000"/>
          </a:xfrm>
          <a:solidFill>
            <a:srgbClr val="03537A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lussfolie">
    <p:bg>
      <p:bgPr>
        <a:blipFill>
          <a:blip r:embed="rId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EAAAACAAAA////AP///wgAAAAAAAAAAIcDbcWIqANPm4J0lZtxJk0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///wD///8BAAAAAAAAAAAAAAAAAAAAAAAAAAAAAAAAAAAAAAAAAAAAAAACf39/AOfm5gPMzMwAwMD/AH9/fwAAAAAAAAAAAAAAAAD///8AAAAAACEAAAAYAAAAFAAAACkdAAAAAAAAAEsAADA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740275" y="0"/>
            <a:ext cx="7451725" cy="6858000"/>
          </a:xfrm>
          <a:prstGeom prst="rect">
            <a:avLst/>
          </a:prstGeom>
          <a:blipFill>
            <a:blip r:embed="rId5"/>
            <a:srcRect/>
            <a:tile sx="100000" sy="100000" algn="tl"/>
          </a:blipFill>
          <a:ln>
            <a:noFill/>
          </a:ln>
          <a:effectLst/>
        </p:spPr>
      </p:pic>
      <p:sp>
        <p:nvSpPr>
          <p:cNvPr id="3" name="Rechteck 8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sA4AAAAAAAAbOAAAIxwAABAAAAAmAAAACAAAAP//////////"/>
              </a:ext>
            </a:extLst>
          </p:cNvSpPr>
          <p:nvPr/>
        </p:nvSpPr>
        <p:spPr>
          <a:xfrm>
            <a:off x="2387600" y="0"/>
            <a:ext cx="6732905" cy="45739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Rechteck 6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3f///wAAAADxKQAAMCoAABAAAAAmAAAACAAAAP//////////"/>
              </a:ext>
            </a:extLst>
          </p:cNvSpPr>
          <p:nvPr/>
        </p:nvSpPr>
        <p:spPr>
          <a:xfrm>
            <a:off x="-22225" y="0"/>
            <a:ext cx="684022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Grafik 1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MBAAD4AgAARRUAABwPAAAQAAAAJgAAAAgAAAD//////////w==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6385" y="482600"/>
            <a:ext cx="3171190" cy="1973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Untertitel 2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dgMAABQbAACMGwAArR4AABAAAAAmAAAACAAAAP//////////"/>
              </a:ext>
            </a:extLst>
          </p:cNvSpPr>
          <p:nvPr/>
        </p:nvSpPr>
        <p:spPr>
          <a:xfrm>
            <a:off x="562610" y="4401820"/>
            <a:ext cx="3915410" cy="5848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None/>
              <a:tabLst/>
              <a:defRPr lang="de-de" sz="1600" b="0" i="0" kern="1" cap="none">
                <a:solidFill>
                  <a:schemeClr val="tx1"/>
                </a:solidFill>
                <a:latin typeface="Source Sans Pro" pitchFamily="2" charset="0"/>
                <a:ea typeface="Calibri" pitchFamily="2" charset="0"/>
                <a:cs typeface="Calibri" pitchFamily="2" charset="0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20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8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HAQAAA8cAACOIgAAOCcAABAAAAAmAAAACAAAAAGAAAAAAAAA"/>
              </a:ext>
            </a:extLst>
          </p:cNvSpPr>
          <p:nvPr>
            <p:ph idx="10"/>
          </p:nvPr>
        </p:nvSpPr>
        <p:spPr>
          <a:xfrm>
            <a:off x="668020" y="4561205"/>
            <a:ext cx="4949190" cy="1814195"/>
          </a:xfrm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/>
            </a:pPr>
            <a:r>
              <a:rPr lang="de-de" sz="1600" cap="none"/>
              <a:t>95028 Hof</a:t>
            </a:r>
          </a:p>
          <a:p>
            <a:pPr>
              <a:defRPr lang="de-de"/>
            </a:pPr>
            <a:r>
              <a:rPr lang="de-de" sz="1600" cap="none"/>
              <a:t>Alfons-Goppel-Platz 1</a:t>
            </a:r>
            <a:br/>
            <a:r>
              <a:rPr lang="de-de" sz="1600" cap="none"/>
              <a:t>Phone +49 9281 409-3000</a:t>
            </a:r>
          </a:p>
          <a:p>
            <a:pPr>
              <a:defRPr lang="de-de"/>
            </a:pPr>
            <a:r>
              <a:rPr lang="de-de" sz="1600" cap="none"/>
              <a:t>Fax       +49 9281 409-4000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/>
            </a:pPr>
            <a:r>
              <a:rPr lang="de-de" sz="1600" cap="none"/>
              <a:t>mail@hof-university.de</a:t>
            </a:r>
            <a:br/>
            <a:r>
              <a:rPr lang="de-de" sz="1600" b="1" cap="none"/>
              <a:t>www.hof-university.de</a:t>
            </a:r>
          </a:p>
          <a:p>
            <a:pPr>
              <a:defRPr lang="de-de"/>
            </a:pPr>
            <a:endParaRPr lang="de-de" sz="1600" cap="none"/>
          </a:p>
          <a:p>
            <a:pPr>
              <a:defRPr lang="de-de"/>
            </a:pPr>
            <a:endParaRPr lang="de-de" sz="1600" cap="none"/>
          </a:p>
          <a:p>
            <a:pPr>
              <a:defRPr lang="de-de"/>
            </a:pPr>
            <a:endParaRPr lang="de-de" sz="1600" cap="none"/>
          </a:p>
        </p:txBody>
      </p:sp>
      <p:sp>
        <p:nvSpPr>
          <p:cNvPr id="8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tS4AALsSAADjPAAA3SAAABAAAAAmAAAACAAAAAGgAAB/AAAA"/>
              </a:ext>
            </a:extLst>
          </p:cNvSpPr>
          <p:nvPr>
            <p:ph idx="11"/>
          </p:nvPr>
        </p:nvSpPr>
        <p:spPr>
          <a:xfrm>
            <a:off x="7592695" y="3044825"/>
            <a:ext cx="2305050" cy="2297430"/>
          </a:xfrm>
          <a:solidFill>
            <a:srgbClr val="0BDA7E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qS4AALsSAAAbOAAAIxwAABAAAAAmAAAACAAAAAGgAAB/AAAA"/>
              </a:ext>
            </a:extLst>
          </p:cNvSpPr>
          <p:nvPr>
            <p:ph idx="12"/>
          </p:nvPr>
        </p:nvSpPr>
        <p:spPr>
          <a:xfrm>
            <a:off x="7585075" y="3044825"/>
            <a:ext cx="1535430" cy="1529080"/>
          </a:xfrm>
          <a:solidFill>
            <a:srgbClr val="0BDA7E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1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8ikAACMcAACnLgAAlyUAABAAAAAmAAAACAAAAAGgAAB/AAAA"/>
              </a:ext>
            </a:extLst>
          </p:cNvSpPr>
          <p:nvPr>
            <p:ph idx="13"/>
          </p:nvPr>
        </p:nvSpPr>
        <p:spPr>
          <a:xfrm>
            <a:off x="6818630" y="4573905"/>
            <a:ext cx="765175" cy="1536700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2563" indent="-182563">
              <a:spcBef>
                <a:spcPts val="600"/>
              </a:spcBef>
              <a:spcAft>
                <a:spcPts val="1200"/>
              </a:spcAft>
              <a:defRPr sz="2200"/>
            </a:lvl1pPr>
            <a:lvl2pPr>
              <a:spcBef>
                <a:spcPts val="600"/>
              </a:spcBef>
              <a:spcAft>
                <a:spcPts val="600"/>
              </a:spcAft>
              <a:defRPr sz="2200"/>
            </a:lvl2pPr>
            <a:lvl3pPr>
              <a:defRPr sz="20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514735" y="6496050"/>
            <a:ext cx="4811053" cy="228600"/>
          </a:xfrm>
        </p:spPr>
        <p:txBody>
          <a:bodyPr/>
          <a:lstStyle>
            <a:lvl1pPr marL="0" indent="0">
              <a:buNone/>
              <a:defRPr sz="8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Quelle / Autor / Thema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D091FC-7449-4311-A043-A46A896C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B8C85D-AC60-4FD0-B081-66F93C4B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28" y="6356350"/>
            <a:ext cx="758072" cy="368300"/>
          </a:xfrm>
        </p:spPr>
        <p:txBody>
          <a:bodyPr/>
          <a:lstStyle/>
          <a:p>
            <a:fld id="{50DAD67A-2FCA-A441-B907-1B1DD4930EB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249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AUAAD8CAAAIPQAAAgcAABAAAAAmAAAACAAAAL8vAAAAAAAA"/>
              </a:ext>
            </a:extLst>
          </p:cNvSpPr>
          <p:nvPr>
            <p:ph type="title"/>
          </p:nvPr>
        </p:nvSpPr>
        <p:spPr>
          <a:xfrm>
            <a:off x="838200" y="365125"/>
            <a:ext cx="9083040" cy="77406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de-de"/>
            </a:pPr>
            <a:r>
              <a:t>Mastertitelformat bearbeiten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AUAAMMIAADYRQAAACYAABAAAAAmAAAACAAAAD8vAAAAAAAA"/>
              </a:ext>
            </a:extLst>
          </p:cNvSpPr>
          <p:nvPr>
            <p:ph type="body" idx="1"/>
          </p:nvPr>
        </p:nvSpPr>
        <p:spPr>
          <a:xfrm>
            <a:off x="838200" y="1424305"/>
            <a:ext cx="10515600" cy="475297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4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AUAABonAAB4HgAAWSkAABAAAAAmAAAACAAAAL+PAAAAAAAA"/>
              </a:ext>
            </a:extLst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cap="none">
                <a:solidFill>
                  <a:srgbClr val="8C8C8C"/>
                </a:solidFill>
                <a:latin typeface="Source Sans Pro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+DQAABonAADYR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cap="none">
                <a:solidFill>
                  <a:srgbClr val="8C8C8C"/>
                </a:solidFill>
                <a:latin typeface="Source Sans Pro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5EC-A2FA-18F3-B4F5-54A64BBB4201}" type="slidenum">
              <a:t>‹#›</a:t>
            </a:fld>
            <a:endParaRPr/>
          </a:p>
        </p:txBody>
      </p:sp>
      <p:pic>
        <p:nvPicPr>
          <p:cNvPr id="6" name="Grafik 6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s+AABQAgAATkgAAAIHAAAQAAAAJgAAAAgAAAD//////////w=="/>
              </a:ext>
            </a:extLst>
          </p:cNvPicPr>
          <p:nvPr/>
        </p:nvPicPr>
        <p:blipFill>
          <a:blip r:embed="rId10"/>
          <a:stretch>
            <a:fillRect/>
          </a:stretch>
        </p:blipFill>
        <p:spPr>
          <a:xfrm>
            <a:off x="10095865" y="375920"/>
            <a:ext cx="1657985" cy="7632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734" r:id="rId2"/>
    <p:sldLayoutId id="2147483717" r:id="rId3"/>
    <p:sldLayoutId id="2147483743" r:id="rId4"/>
    <p:sldLayoutId id="2147483793" r:id="rId5"/>
    <p:sldLayoutId id="2147483742" r:id="rId6"/>
    <p:sldLayoutId id="2147483781" r:id="rId7"/>
    <p:sldLayoutId id="2147483794" r:id="rId8"/>
  </p:sldLayoutIdLst>
  <p:hf hdr="0" dt="0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2400" b="1" i="0" u="none" strike="noStrike" kern="1" cap="none" spc="0" baseline="0">
          <a:solidFill>
            <a:schemeClr val="tx1"/>
          </a:solidFill>
          <a:effectLst/>
          <a:latin typeface="Sora" charset="0"/>
          <a:ea typeface="Sora" charset="0"/>
          <a:cs typeface="Sora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renepeinl/connect_four.git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pygame.org/docs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wAMAAIwVAADAIQAANh0AABAAAAAmAAAACAAAAAEAAAAAAAAA"/>
              </a:ext>
            </a:extLst>
          </p:cNvSpPr>
          <p:nvPr>
            <p:ph type="subTitle" idx="1"/>
          </p:nvPr>
        </p:nvSpPr>
        <p:spPr>
          <a:xfrm>
            <a:off x="609600" y="3502660"/>
            <a:ext cx="4876800" cy="1245870"/>
          </a:xfrm>
        </p:spPr>
        <p:txBody>
          <a:bodyPr/>
          <a:lstStyle/>
          <a:p>
            <a:pPr>
              <a:defRPr lang="de-de"/>
            </a:pPr>
            <a:r>
              <a:rPr cap="none" noProof="1"/>
              <a:t>Prof. Dr. René Peinl</a:t>
            </a:r>
          </a:p>
        </p:txBody>
      </p:sp>
      <p:sp>
        <p:nvSpPr>
          <p:cNvPr id="3" name="Text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qC4AAMwSAAD5PAAA1SAAABAAAAAmAAAACAAAAAEAAAAAAAAA"/>
              </a:ext>
            </a:extLst>
          </p:cNvSpPr>
          <p:nvPr>
            <p:ph type="body" idx="14"/>
          </p:nvPr>
        </p:nvSpPr>
        <p:spPr>
          <a:xfrm>
            <a:off x="7591426" y="3055620"/>
            <a:ext cx="2320290" cy="2281555"/>
          </a:xfrm>
        </p:spPr>
        <p:txBody>
          <a:bodyPr/>
          <a:lstStyle/>
          <a:p>
            <a:pPr>
              <a:defRPr lang="de-de"/>
            </a:pPr>
            <a:endParaRPr dirty="0"/>
          </a:p>
        </p:txBody>
      </p:sp>
      <p:sp>
        <p:nvSpPr>
          <p:cNvPr id="4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sy4AAMwSAAANOAAAIhwAABAAAAAmAAAACAAAAAEAAAAAAAAA"/>
              </a:ext>
            </a:extLst>
          </p:cNvSpPr>
          <p:nvPr>
            <p:ph type="body" idx="13"/>
          </p:nvPr>
        </p:nvSpPr>
        <p:spPr>
          <a:xfrm>
            <a:off x="7591425" y="3055620"/>
            <a:ext cx="1520190" cy="1517650"/>
          </a:xfrm>
        </p:spPr>
        <p:txBody>
          <a:bodyPr/>
          <a:lstStyle/>
          <a:p>
            <a:pPr>
              <a:defRPr lang="de-de"/>
            </a:pPr>
            <a:endParaRPr dirty="0"/>
          </a:p>
        </p:txBody>
      </p:sp>
      <p:sp>
        <p:nvSpPr>
          <p:cNvPr id="5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9CkAACMcAACzLgAAlyUAABAAAAAmAAAACAAAAAAAAAAAAAAA"/>
              </a:ext>
            </a:extLst>
          </p:cNvSpPr>
          <p:nvPr>
            <p:ph type="body" idx="15"/>
          </p:nvPr>
        </p:nvSpPr>
        <p:spPr/>
        <p:txBody>
          <a:bodyPr/>
          <a:lstStyle/>
          <a:p>
            <a:pPr>
              <a:defRPr lang="de-de"/>
            </a:pPr>
            <a:endParaRPr dirty="0"/>
          </a:p>
        </p:txBody>
      </p:sp>
      <p:sp>
        <p:nvSpPr>
          <p:cNvPr id="6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swMAAK4FAABkMgAAeRQAABAAAAAmAAAACAAAAAGgAAAAAAAA"/>
              </a:ext>
            </a:extLst>
          </p:cNvSpPr>
          <p:nvPr>
            <p:ph type="body" idx="10"/>
          </p:nvPr>
        </p:nvSpPr>
        <p:spPr>
          <a:xfrm>
            <a:off x="601345" y="923290"/>
            <a:ext cx="7590155" cy="24047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2800" b="1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cap="none" noProof="1"/>
              <a:t>Multimodal Artificial Intelligence</a:t>
            </a:r>
          </a:p>
          <a:p>
            <a:pPr>
              <a:defRPr lang="de-de"/>
            </a:pPr>
            <a:endParaRPr cap="none" noProof="1"/>
          </a:p>
          <a:p>
            <a:pPr>
              <a:defRPr lang="de-de"/>
            </a:pPr>
            <a:r>
              <a:rPr lang="en-us" cap="none" dirty="0"/>
              <a:t>Practical training 02 – connect 4 and </a:t>
            </a:r>
            <a:r>
              <a:rPr lang="en-us" cap="none" dirty="0" err="1"/>
              <a:t>pygame</a:t>
            </a:r>
            <a:endParaRPr lang="en-us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LkIAACiRwAAVA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rPr dirty="0"/>
              <a:t>Agenda</a:t>
            </a:r>
          </a:p>
        </p:txBody>
      </p:sp>
      <p:sp>
        <p:nvSpPr>
          <p:cNvPr id="3" name="Folien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UAAAFcCAAAzSAAA+QMAABAAAAAmAAAACAAAAAGAAAAAAAAA"/>
              </a:ext>
            </a:extLst>
          </p:cNvSpPr>
          <p:nvPr>
            <p:ph type="body" idx="15"/>
          </p:nvPr>
        </p:nvSpPr>
        <p:spPr>
          <a:xfrm>
            <a:off x="10531475" y="380365"/>
            <a:ext cx="1205230" cy="265430"/>
          </a:xfrm>
        </p:spPr>
        <p:txBody>
          <a:bodyPr/>
          <a:lstStyle>
            <a:lvl1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4" name="Folien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AUOAADLPwAAzygAABAAAAAmAAAACAAAAAGAAAAAAAAA"/>
              </a:ext>
            </a:extLst>
          </p:cNvSpPr>
          <p:nvPr>
            <p:ph type="body" idx="16"/>
          </p:nvPr>
        </p:nvSpPr>
        <p:spPr>
          <a:xfrm>
            <a:off x="4366260" y="2279015"/>
            <a:ext cx="6003925" cy="4354830"/>
          </a:xfrm>
        </p:spPr>
        <p:txBody>
          <a:bodyPr/>
          <a:lstStyle>
            <a:lvl1pPr marL="0" marR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1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buNone/>
              <a:defRPr lang="de-de" cap="none"/>
            </a:lvl2pPr>
            <a:lvl3pPr marL="914400" indent="0">
              <a:buNone/>
              <a:defRPr lang="de-de" cap="none"/>
            </a:lvl3pPr>
            <a:lvl4pPr marL="1371600" indent="0">
              <a:buNone/>
              <a:defRPr lang="de-de" cap="none"/>
            </a:lvl4pPr>
            <a:lvl5pPr marL="1828800" indent="0">
              <a:buNone/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dirty="0"/>
              <a:t>Aufgabe 1	10 min</a:t>
            </a:r>
          </a:p>
          <a:p>
            <a:pPr>
              <a:defRPr lang="de-de"/>
            </a:pPr>
            <a:r>
              <a:rPr dirty="0"/>
              <a:t>Aufgabe 2	20 min</a:t>
            </a:r>
          </a:p>
          <a:p>
            <a:pPr>
              <a:defRPr lang="de-de"/>
            </a:pPr>
            <a:r>
              <a:rPr dirty="0"/>
              <a:t>Aufgabe 3</a:t>
            </a:r>
            <a:r>
              <a:rPr lang="en-US" dirty="0"/>
              <a:t>	</a:t>
            </a:r>
            <a:r>
              <a:rPr dirty="0"/>
              <a:t>15 min</a:t>
            </a:r>
          </a:p>
          <a:p>
            <a:pPr>
              <a:defRPr lang="de-de"/>
            </a:pPr>
            <a:r>
              <a:rPr dirty="0"/>
              <a:t>Aufgabe 4	10 min</a:t>
            </a:r>
          </a:p>
        </p:txBody>
      </p:sp>
      <p:sp>
        <p:nvSpPr>
          <p:cNvPr id="5" name="Folientext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KGL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GL6AP///wEAAAAAAAAAAAAAAAAAAAAAAAAAAAAAAAAAAAAAAAAAAAAAAAJ/f38A5+bmA8zMzADAwP8Af39/AAAAAAAAAAAAAAAAAAAAAAAAAAAAIQAAABgAAAAUAAAAkBcAAAAAAAABHAAAqwcAABAAAAAmAAAACAAAAAEAAAAAAAAA"/>
              </a:ext>
            </a:extLst>
          </p:cNvSpPr>
          <p:nvPr>
            <p:ph type="body" idx="19"/>
          </p:nvPr>
        </p:nvSpPr>
        <p:spPr>
          <a:xfrm>
            <a:off x="3830320" y="0"/>
            <a:ext cx="721995" cy="1246505"/>
          </a:xfrm>
        </p:spPr>
        <p:txBody>
          <a:bodyPr/>
          <a:lstStyle/>
          <a:p>
            <a:pPr>
              <a:defRPr lang="de-de"/>
            </a:pPr>
            <a:endParaRPr dirty="0"/>
          </a:p>
        </p:txBody>
      </p:sp>
      <p:sp>
        <p:nvSpPr>
          <p:cNvPr id="6" name="Folientext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NRUAAE0FAACbFwAA9QkAABAAAAAmAAAACAAAAAEAAAAAAAAA"/>
              </a:ext>
            </a:extLst>
          </p:cNvSpPr>
          <p:nvPr>
            <p:ph type="body" idx="20"/>
          </p:nvPr>
        </p:nvSpPr>
        <p:spPr>
          <a:xfrm>
            <a:off x="3447415" y="861695"/>
            <a:ext cx="389890" cy="756920"/>
          </a:xfrm>
        </p:spPr>
        <p:txBody>
          <a:bodyPr/>
          <a:lstStyle/>
          <a:p>
            <a:pPr>
              <a:defRPr lang="de-de"/>
            </a:pPr>
            <a:endParaRPr dirty="0"/>
          </a:p>
        </p:txBody>
      </p:sp>
      <p:sp>
        <p:nvSpPr>
          <p:cNvPr id="7" name="Folientext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hRcAAKEHAADhGQAA9QkAABAAAAAmAAAACAAAAAEAAAAAAAAA"/>
              </a:ext>
            </a:extLst>
          </p:cNvSpPr>
          <p:nvPr>
            <p:ph type="body" idx="21"/>
          </p:nvPr>
        </p:nvSpPr>
        <p:spPr>
          <a:xfrm>
            <a:off x="3823335" y="1240155"/>
            <a:ext cx="383540" cy="378460"/>
          </a:xfrm>
        </p:spPr>
        <p:txBody>
          <a:bodyPr/>
          <a:lstStyle/>
          <a:p>
            <a:pPr>
              <a:defRPr lang="de-de"/>
            </a:pPr>
            <a:endParaRPr lang="en-US" dirty="0"/>
          </a:p>
        </p:txBody>
      </p:sp>
      <p:sp>
        <p:nvSpPr>
          <p:cNvPr id="8" name="Folientext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JxZ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xZLAP///wEAAAAAAAAAAAAAAAAAAAAAAAAAAAAAAAAAAAAAAAAAAAAAAAJ/f38A5+bmA8zMzADAwP8Af39/AAAAAAAAAAAAAAAAAAAAAAAAAAAAIQAAABgAAAAUAAAAhRcAAE0FAADhGQAAoQc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The connect four game</a:t>
            </a:r>
          </a:p>
        </p:txBody>
      </p:sp>
      <p:sp>
        <p:nvSpPr>
          <p:cNvPr id="3" name="Textplatzhalter 1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BrJw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511619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The game has a grid-layout with columns and rows. </a:t>
            </a:r>
          </a:p>
          <a:p>
            <a:pPr>
              <a:defRPr lang="de-de"/>
            </a:pPr>
            <a:r>
              <a:t>Columns are labeled with letters, rows with numbers</a:t>
            </a:r>
          </a:p>
          <a:p>
            <a:pPr>
              <a:defRPr lang="de-de"/>
            </a:pPr>
            <a:r>
              <a:t>This should be similar for your games</a:t>
            </a:r>
          </a:p>
          <a:p>
            <a:pPr>
              <a:defRPr lang="de-de"/>
            </a:pPr>
            <a:r>
              <a:t>The action is very simple. State the letter for the column of your next piece</a:t>
            </a:r>
          </a:p>
          <a:p>
            <a:pPr>
              <a:defRPr lang="de-de"/>
            </a:pPr>
            <a:r>
              <a:t>For the human player, you can simply type the letter on the keyboard</a:t>
            </a:r>
          </a:p>
        </p:txBody>
      </p:sp>
      <p:sp>
        <p:nvSpPr>
          <p:cNvPr id="4" name="Fußzeilen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9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43AC-E2FA-18B5-B4F5-14E00DBB4241}" type="slidenum">
              <a:rPr/>
              <a:t>3</a:t>
            </a:fld>
            <a:endParaRPr/>
          </a:p>
        </p:txBody>
      </p:sp>
      <p:sp>
        <p:nvSpPr>
          <p:cNvPr id="6" name="Textplatzhalter 1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1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1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1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8" descr="Ein Bild, das Screenshot, Farbigkeit, Muster, Kreis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snAADuCgAA2EUAAM8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499225" y="1776730"/>
            <a:ext cx="4854575" cy="43694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Sprechblase: rechteckig mit abgerundeten Ecken 10">
            <a:extLst>
              <a:ext uri="{FF2B5EF4-FFF2-40B4-BE49-F238E27FC236}">
                <a16:creationId xmlns:a16="http://schemas.microsoft.com/office/drawing/2014/main" id="{3220BA99-A965-1E21-428A-4B11092E377D}"/>
              </a:ext>
            </a:extLst>
          </p:cNvPr>
          <p:cNvSpPr/>
          <p:nvPr/>
        </p:nvSpPr>
        <p:spPr>
          <a:xfrm>
            <a:off x="5914417" y="466928"/>
            <a:ext cx="1595336" cy="1147863"/>
          </a:xfrm>
          <a:prstGeom prst="wedgeRoundRectCallout">
            <a:avLst/>
          </a:prstGeom>
          <a:noFill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2" name="Sprechblase: rechteckig mit abgerundeten Ecken 11">
            <a:extLst>
              <a:ext uri="{FF2B5EF4-FFF2-40B4-BE49-F238E27FC236}">
                <a16:creationId xmlns:a16="http://schemas.microsoft.com/office/drawing/2014/main" id="{C4E37F07-877F-446F-055D-F351B0405EDC}"/>
              </a:ext>
            </a:extLst>
          </p:cNvPr>
          <p:cNvSpPr/>
          <p:nvPr/>
        </p:nvSpPr>
        <p:spPr>
          <a:xfrm>
            <a:off x="5567963" y="764135"/>
            <a:ext cx="1679643" cy="629055"/>
          </a:xfrm>
          <a:prstGeom prst="wedgeRoundRectCallout">
            <a:avLst>
              <a:gd name="adj1" fmla="val 5036"/>
              <a:gd name="adj2" fmla="val 11301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Here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callout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Computer opponent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CUAAF8LAAA5RgAAXiUAABAAAAAmAAAACAAAAAGgAAAAAAAA"/>
              </a:ext>
            </a:extLst>
          </p:cNvSpPr>
          <p:nvPr>
            <p:ph type="body" idx="17"/>
          </p:nvPr>
        </p:nvSpPr>
        <p:spPr>
          <a:xfrm>
            <a:off x="6096000" y="1848485"/>
            <a:ext cx="5319395" cy="42259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lnSpc>
                <a:spcPct val="90000"/>
              </a:lnSpc>
              <a:defRPr lang="de-de"/>
            </a:pPr>
            <a:r>
              <a:t>The algorithm for the bot is rather primitive</a:t>
            </a:r>
          </a:p>
          <a:p>
            <a:pPr>
              <a:lnSpc>
                <a:spcPct val="90000"/>
              </a:lnSpc>
              <a:defRPr lang="de-de"/>
            </a:pPr>
            <a:r>
              <a:t>It tries to find potential winning situations for the opponent and prevent them. </a:t>
            </a:r>
          </a:p>
          <a:p>
            <a:pPr>
              <a:lnSpc>
                <a:spcPct val="90000"/>
              </a:lnSpc>
              <a:defRPr lang="de-de"/>
            </a:pPr>
            <a:r>
              <a:t>If no such situation is recognized, it simply uses a random column. </a:t>
            </a:r>
          </a:p>
          <a:p>
            <a:pPr>
              <a:lnSpc>
                <a:spcPct val="90000"/>
              </a:lnSpc>
              <a:defRPr lang="de-de"/>
            </a:pPr>
            <a:r>
              <a:t>It has no own „winning“ algorithm implemented.</a:t>
            </a:r>
          </a:p>
          <a:p>
            <a:pPr>
              <a:lnSpc>
                <a:spcPct val="90000"/>
              </a:lnSpc>
              <a:defRPr lang="de-de"/>
            </a:pPr>
            <a:r>
              <a:t>In the example, it will put a piece in B or E to prevent three in a row with both ends clear for the winning stone.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4881-CFFA-18BE-B4F5-39EB06BB426C}" type="slidenum">
              <a:rPr/>
              <a:t>4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IHAABfCwAA9SQAAHs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1848485"/>
            <a:ext cx="4716145" cy="42443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#1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C3Jg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500189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dirty="0"/>
              <a:t>Clone </a:t>
            </a:r>
            <a:r>
              <a:rPr dirty="0" err="1"/>
              <a:t>the</a:t>
            </a:r>
            <a:r>
              <a:rPr dirty="0"/>
              <a:t> </a:t>
            </a:r>
            <a:r>
              <a:rPr dirty="0" err="1"/>
              <a:t>git</a:t>
            </a:r>
            <a:r>
              <a:rPr dirty="0"/>
              <a:t> </a:t>
            </a:r>
            <a:r>
              <a:rPr dirty="0" err="1"/>
              <a:t>repository</a:t>
            </a:r>
            <a:r>
              <a:rPr dirty="0"/>
              <a:t> and </a:t>
            </a:r>
            <a:r>
              <a:rPr dirty="0" err="1"/>
              <a:t>run</a:t>
            </a:r>
            <a:r>
              <a:rPr dirty="0"/>
              <a:t> </a:t>
            </a:r>
            <a:r>
              <a:rPr dirty="0" err="1"/>
              <a:t>the</a:t>
            </a:r>
            <a:r>
              <a:rPr dirty="0"/>
              <a:t> game</a:t>
            </a:r>
          </a:p>
          <a:p>
            <a:pPr marL="0" indent="0">
              <a:buNone/>
              <a:defRPr lang="de-de"/>
            </a:pPr>
            <a:r>
              <a:rPr lang="de-de" sz="1050" cap="none" dirty="0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   </a:t>
            </a:r>
            <a:r>
              <a:rPr lang="de-de" sz="1050" cap="none" dirty="0" err="1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git</a:t>
            </a:r>
            <a:r>
              <a:rPr lang="de-de" sz="1050" cap="none" dirty="0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 </a:t>
            </a:r>
            <a:r>
              <a:rPr lang="de-de" sz="1050" cap="none" dirty="0" err="1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clone</a:t>
            </a:r>
            <a:r>
              <a:rPr lang="de-de" sz="1050" cap="none" dirty="0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 </a:t>
            </a:r>
            <a:r>
              <a:rPr lang="de-de" sz="1050" cap="none" dirty="0">
                <a:latin typeface="Lucida Console" pitchFamily="3" charset="0"/>
                <a:ea typeface="Source Sans Pro" pitchFamily="2" charset="0"/>
                <a:cs typeface="Source Sans Pro" pitchFamily="2" charset="0"/>
                <a:hlinkClick r:id="rId2"/>
              </a:rPr>
              <a:t>https://github.com/renepeinl/connect_four.git</a:t>
            </a:r>
            <a:r>
              <a:rPr lang="de-de" sz="1050" cap="none" dirty="0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 </a:t>
            </a:r>
            <a:endParaRPr lang="de-de" cap="none" dirty="0">
              <a:latin typeface="Lucida Console" pitchFamily="3" charset="0"/>
              <a:ea typeface="Source Sans Pro" pitchFamily="2" charset="0"/>
              <a:cs typeface="Source Sans Pro" pitchFamily="2" charset="0"/>
            </a:endParaRPr>
          </a:p>
          <a:p>
            <a:pPr>
              <a:defRPr lang="de-de"/>
            </a:pPr>
            <a:r>
              <a:rPr dirty="0"/>
              <a:t>Play a </a:t>
            </a:r>
            <a:r>
              <a:rPr dirty="0" err="1"/>
              <a:t>few</a:t>
            </a:r>
            <a:r>
              <a:rPr dirty="0"/>
              <a:t> </a:t>
            </a:r>
            <a:r>
              <a:rPr dirty="0" err="1"/>
              <a:t>rounds</a:t>
            </a:r>
            <a:r>
              <a:rPr dirty="0"/>
              <a:t> </a:t>
            </a:r>
            <a:r>
              <a:rPr dirty="0" err="1"/>
              <a:t>against</a:t>
            </a:r>
            <a:r>
              <a:rPr dirty="0"/>
              <a:t> </a:t>
            </a:r>
            <a:r>
              <a:rPr dirty="0" err="1"/>
              <a:t>the</a:t>
            </a:r>
            <a:r>
              <a:rPr dirty="0"/>
              <a:t> bot</a:t>
            </a:r>
          </a:p>
          <a:p>
            <a:pPr>
              <a:defRPr lang="de-de"/>
            </a:pPr>
            <a:r>
              <a:rPr dirty="0" err="1"/>
              <a:t>Determine</a:t>
            </a:r>
            <a:r>
              <a:rPr dirty="0"/>
              <a:t> </a:t>
            </a:r>
            <a:r>
              <a:rPr dirty="0" err="1"/>
              <a:t>which</a:t>
            </a:r>
            <a:r>
              <a:rPr dirty="0"/>
              <a:t> </a:t>
            </a:r>
            <a:r>
              <a:rPr dirty="0" err="1"/>
              <a:t>strategies</a:t>
            </a:r>
            <a:r>
              <a:rPr dirty="0"/>
              <a:t> </a:t>
            </a:r>
            <a:r>
              <a:rPr dirty="0" err="1"/>
              <a:t>are</a:t>
            </a:r>
            <a:r>
              <a:rPr dirty="0"/>
              <a:t> not </a:t>
            </a:r>
            <a:r>
              <a:rPr dirty="0" err="1"/>
              <a:t>yet</a:t>
            </a:r>
            <a:r>
              <a:rPr dirty="0"/>
              <a:t> </a:t>
            </a:r>
            <a:r>
              <a:rPr dirty="0" err="1"/>
              <a:t>countered</a:t>
            </a:r>
            <a:r>
              <a:rPr dirty="0"/>
              <a:t> </a:t>
            </a:r>
            <a:r>
              <a:rPr dirty="0" err="1"/>
              <a:t>by</a:t>
            </a:r>
            <a:r>
              <a:rPr dirty="0"/>
              <a:t> </a:t>
            </a:r>
            <a:r>
              <a:rPr dirty="0" err="1"/>
              <a:t>the</a:t>
            </a:r>
            <a:r>
              <a:rPr dirty="0"/>
              <a:t> bot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5477-39FA-18A2-B4F5-CFF71ABB429A}" type="slidenum">
              <a:rPr/>
              <a:t>5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snAAC9CgAA2EUAAJ0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99225" y="1745615"/>
            <a:ext cx="4854575" cy="43688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#2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hLQ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616648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dirty="0" err="1"/>
              <a:t>Inspect</a:t>
            </a:r>
            <a:r>
              <a:rPr dirty="0"/>
              <a:t> </a:t>
            </a:r>
            <a:r>
              <a:rPr dirty="0" err="1"/>
              <a:t>the</a:t>
            </a:r>
            <a:r>
              <a:rPr dirty="0"/>
              <a:t> Code, </a:t>
            </a:r>
            <a:r>
              <a:rPr dirty="0" err="1"/>
              <a:t>especially</a:t>
            </a:r>
            <a:r>
              <a:rPr dirty="0"/>
              <a:t> </a:t>
            </a:r>
            <a:r>
              <a:rPr dirty="0" err="1"/>
              <a:t>the</a:t>
            </a:r>
            <a:r>
              <a:rPr dirty="0"/>
              <a:t> connect_4_game.py (and </a:t>
            </a:r>
            <a:r>
              <a:rPr dirty="0" err="1"/>
              <a:t>the</a:t>
            </a:r>
            <a:r>
              <a:rPr dirty="0"/>
              <a:t> GameConfig.py)</a:t>
            </a:r>
          </a:p>
          <a:p>
            <a:pPr>
              <a:defRPr lang="de-de"/>
            </a:pPr>
            <a:r>
              <a:rPr dirty="0" err="1"/>
              <a:t>Have</a:t>
            </a:r>
            <a:r>
              <a:rPr dirty="0"/>
              <a:t> a </a:t>
            </a:r>
            <a:r>
              <a:rPr dirty="0" err="1"/>
              <a:t>closer</a:t>
            </a:r>
            <a:r>
              <a:rPr dirty="0"/>
              <a:t> </a:t>
            </a:r>
            <a:r>
              <a:rPr dirty="0" err="1"/>
              <a:t>look</a:t>
            </a:r>
            <a:r>
              <a:rPr dirty="0"/>
              <a:t> at </a:t>
            </a:r>
          </a:p>
          <a:p>
            <a:pPr lvl="1">
              <a:defRPr lang="de-de"/>
            </a:pPr>
            <a:r>
              <a:rPr dirty="0" err="1"/>
              <a:t>add_stone</a:t>
            </a:r>
            <a:endParaRPr dirty="0"/>
          </a:p>
          <a:p>
            <a:pPr lvl="1">
              <a:defRPr lang="de-de"/>
            </a:pPr>
            <a:r>
              <a:rPr dirty="0" err="1"/>
              <a:t>draw_stone</a:t>
            </a:r>
            <a:endParaRPr dirty="0"/>
          </a:p>
          <a:p>
            <a:pPr lvl="1">
              <a:defRPr lang="de-de"/>
            </a:pPr>
            <a:r>
              <a:rPr dirty="0" err="1"/>
              <a:t>render_environment</a:t>
            </a:r>
            <a:endParaRPr dirty="0"/>
          </a:p>
          <a:p>
            <a:pPr lvl="1">
              <a:defRPr lang="de-de"/>
            </a:pPr>
            <a:r>
              <a:rPr dirty="0" err="1"/>
              <a:t>render_stones</a:t>
            </a:r>
            <a:endParaRPr dirty="0"/>
          </a:p>
          <a:p>
            <a:pPr lvl="1">
              <a:defRPr lang="de-de"/>
            </a:pPr>
            <a:r>
              <a:rPr dirty="0" err="1"/>
              <a:t>render_text</a:t>
            </a:r>
            <a:endParaRPr dirty="0"/>
          </a:p>
          <a:p>
            <a:pPr>
              <a:defRPr lang="de-de"/>
            </a:pPr>
            <a:r>
              <a:rPr dirty="0"/>
              <a:t>List all </a:t>
            </a:r>
            <a:r>
              <a:rPr dirty="0" err="1"/>
              <a:t>pygame</a:t>
            </a:r>
            <a:r>
              <a:rPr dirty="0"/>
              <a:t> </a:t>
            </a:r>
            <a:r>
              <a:rPr dirty="0" err="1"/>
              <a:t>functions</a:t>
            </a:r>
            <a:r>
              <a:rPr dirty="0"/>
              <a:t> </a:t>
            </a:r>
            <a:r>
              <a:rPr dirty="0" err="1"/>
              <a:t>used</a:t>
            </a:r>
            <a:r>
              <a:rPr dirty="0"/>
              <a:t> </a:t>
            </a:r>
            <a:r>
              <a:rPr dirty="0" err="1"/>
              <a:t>there</a:t>
            </a:r>
            <a:r>
              <a:t> </a:t>
            </a:r>
            <a:br/>
            <a:r>
              <a:rPr lang="de-de" cap="none">
                <a:hlinkClick r:id="rId2"/>
              </a:rPr>
              <a:t>https://www.pygame.org/docs/</a:t>
            </a:r>
            <a:r>
              <a:t> 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7F3C-72FA-1889-B4F5-84DC31BB42D1}" type="slidenum">
              <a:rPr/>
              <a:t>6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YvAABSCAAA2EUAAIM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755890" y="1352550"/>
            <a:ext cx="3597910" cy="50704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Solution for Task #2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YRQ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10062210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indent="0">
              <a:buNone/>
              <a:defRPr lang="de-de"/>
            </a:pPr>
            <a:r>
              <a:rPr dirty="0" err="1"/>
              <a:t>screen.fill</a:t>
            </a:r>
            <a:r>
              <a:rPr dirty="0"/>
              <a:t>(„</a:t>
            </a:r>
            <a:r>
              <a:rPr dirty="0" err="1"/>
              <a:t>color</a:t>
            </a:r>
            <a:r>
              <a:rPr dirty="0"/>
              <a:t>“)</a:t>
            </a:r>
          </a:p>
          <a:p>
            <a:pPr marL="0" indent="0">
              <a:buNone/>
              <a:defRPr lang="de-de"/>
            </a:pPr>
            <a:r>
              <a:rPr dirty="0" err="1"/>
              <a:t>pygame.Rect</a:t>
            </a:r>
            <a:r>
              <a:rPr dirty="0"/>
              <a:t>()</a:t>
            </a:r>
          </a:p>
          <a:p>
            <a:pPr marL="0" indent="0">
              <a:buNone/>
              <a:defRPr lang="de-de"/>
            </a:pPr>
            <a:r>
              <a:rPr dirty="0" err="1"/>
              <a:t>pygame.draw.circle</a:t>
            </a:r>
            <a:r>
              <a:rPr dirty="0"/>
              <a:t>()</a:t>
            </a:r>
          </a:p>
          <a:p>
            <a:pPr marL="0" indent="0">
              <a:buNone/>
              <a:defRPr lang="de-de"/>
            </a:pPr>
            <a:r>
              <a:rPr dirty="0" err="1"/>
              <a:t>pygame.draw.rect</a:t>
            </a:r>
            <a:r>
              <a:rPr dirty="0"/>
              <a:t>()</a:t>
            </a:r>
          </a:p>
          <a:p>
            <a:pPr marL="0" indent="0">
              <a:buNone/>
              <a:defRPr lang="de-de"/>
            </a:pPr>
            <a:r>
              <a:rPr dirty="0" err="1"/>
              <a:t>pygame.font.Font</a:t>
            </a:r>
            <a:r>
              <a:rPr dirty="0"/>
              <a:t>()</a:t>
            </a:r>
          </a:p>
          <a:p>
            <a:pPr marL="0" indent="0">
              <a:buNone/>
              <a:defRPr lang="de-de"/>
            </a:pPr>
            <a:r>
              <a:rPr dirty="0" err="1"/>
              <a:t>font.render</a:t>
            </a:r>
            <a:r>
              <a:rPr dirty="0"/>
              <a:t>()</a:t>
            </a:r>
          </a:p>
          <a:p>
            <a:pPr marL="0" indent="0">
              <a:buNone/>
              <a:defRPr lang="de-de"/>
            </a:pPr>
            <a:r>
              <a:rPr dirty="0" err="1"/>
              <a:t>screen.blit</a:t>
            </a:r>
            <a:r>
              <a:rPr dirty="0"/>
              <a:t>()</a:t>
            </a:r>
          </a:p>
          <a:p>
            <a:pPr marL="0" indent="0">
              <a:buNone/>
              <a:defRPr lang="de-de"/>
            </a:pPr>
            <a:endParaRPr dirty="0"/>
          </a:p>
          <a:p>
            <a:pPr marL="0" indent="0">
              <a:buNone/>
              <a:defRPr lang="de-de"/>
            </a:pPr>
            <a:endParaRPr dirty="0"/>
          </a:p>
          <a:p>
            <a:pPr marL="0" indent="0">
              <a:buNone/>
              <a:defRPr lang="de-de"/>
            </a:pPr>
            <a:endParaRPr dirty="0"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16AB-E5FA-18E0-B4F5-13B558BB4246}" type="slidenum">
              <a:rPr/>
              <a:t>7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r>
              <a:t>https://www.pygame.org/docs/ref/draw.html</a:t>
            </a:r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QkAABXCQAAhjoAAGY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915660" y="1518285"/>
            <a:ext cx="3597910" cy="48863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lipse 18">
            <a:extLst>
              <a:ext uri="{FF2B5EF4-FFF2-40B4-BE49-F238E27FC236}">
                <a16:creationId xmlns:a16="http://schemas.microsoft.com/office/drawing/2014/main" id="{219BFF34-754B-0B9C-8641-F9558CFFF88B}"/>
              </a:ext>
            </a:extLst>
          </p:cNvPr>
          <p:cNvSpPr/>
          <p:nvPr/>
        </p:nvSpPr>
        <p:spPr>
          <a:xfrm>
            <a:off x="3566809" y="3572226"/>
            <a:ext cx="1459149" cy="898039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verdeckt</a:t>
            </a:r>
          </a:p>
        </p:txBody>
      </p:sp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rPr dirty="0"/>
              <a:t>Task #3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AoJw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5073650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dirty="0" err="1"/>
              <a:t>One</a:t>
            </a:r>
            <a:r>
              <a:rPr dirty="0"/>
              <a:t> </a:t>
            </a:r>
            <a:r>
              <a:rPr dirty="0" err="1"/>
              <a:t>slide</a:t>
            </a:r>
            <a:r>
              <a:rPr dirty="0"/>
              <a:t> </a:t>
            </a:r>
            <a:r>
              <a:rPr dirty="0" err="1"/>
              <a:t>with</a:t>
            </a:r>
            <a:r>
              <a:rPr dirty="0"/>
              <a:t> a </a:t>
            </a:r>
            <a:r>
              <a:rPr dirty="0" err="1"/>
              <a:t>lot</a:t>
            </a:r>
            <a:r>
              <a:rPr dirty="0"/>
              <a:t> </a:t>
            </a:r>
            <a:r>
              <a:rPr dirty="0" err="1"/>
              <a:t>of</a:t>
            </a:r>
            <a:r>
              <a:rPr dirty="0"/>
              <a:t> </a:t>
            </a:r>
            <a:r>
              <a:rPr dirty="0" err="1"/>
              <a:t>shapes</a:t>
            </a:r>
            <a:endParaRPr dirty="0"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4CD3-9DFA-18BA-B4F5-6BEF02BB423E}" type="slidenum">
              <a:rPr/>
              <a:t>8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r>
              <a:rPr lang="de-DE" dirty="0"/>
              <a:t>Image source: own </a:t>
            </a:r>
            <a:r>
              <a:rPr lang="de-DE" dirty="0" err="1"/>
              <a:t>screenshot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own connect-</a:t>
            </a:r>
            <a:r>
              <a:rPr lang="de-DE" dirty="0" err="1"/>
              <a:t>four</a:t>
            </a:r>
            <a:r>
              <a:rPr lang="de-DE" dirty="0"/>
              <a:t> game</a:t>
            </a:r>
            <a:endParaRPr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D07015B-4B36-27DD-A555-4635BD803AA0}"/>
              </a:ext>
            </a:extLst>
          </p:cNvPr>
          <p:cNvSpPr/>
          <p:nvPr/>
        </p:nvSpPr>
        <p:spPr>
          <a:xfrm>
            <a:off x="2114145" y="1933480"/>
            <a:ext cx="674451" cy="288000"/>
          </a:xfrm>
          <a:prstGeom prst="rect">
            <a:avLst/>
          </a:prstGeom>
          <a:solidFill>
            <a:schemeClr val="accent2"/>
          </a:solidFill>
          <a:effectLst>
            <a:softEdge rad="127000"/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gpAAC8CwAA2EUAADA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907540"/>
            <a:ext cx="4572000" cy="430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E5FD526F-8EA4-8BEA-E95F-C799FC39CF06}"/>
              </a:ext>
            </a:extLst>
          </p:cNvPr>
          <p:cNvSpPr/>
          <p:nvPr/>
        </p:nvSpPr>
        <p:spPr>
          <a:xfrm>
            <a:off x="1018263" y="2496766"/>
            <a:ext cx="1638854" cy="8106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/>
              <a:t>Rectangle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rounded</a:t>
            </a:r>
            <a:r>
              <a:rPr lang="de-DE" dirty="0"/>
              <a:t> </a:t>
            </a:r>
            <a:r>
              <a:rPr lang="de-DE" dirty="0" err="1"/>
              <a:t>corners</a:t>
            </a:r>
            <a:endParaRPr lang="de-DE" dirty="0"/>
          </a:p>
        </p:txBody>
      </p:sp>
      <p:sp>
        <p:nvSpPr>
          <p:cNvPr id="12" name="Flussdiagramm: Magnetplattenspeicher 11">
            <a:extLst>
              <a:ext uri="{FF2B5EF4-FFF2-40B4-BE49-F238E27FC236}">
                <a16:creationId xmlns:a16="http://schemas.microsoft.com/office/drawing/2014/main" id="{429257F5-15AB-0996-E26E-6753655BF807}"/>
              </a:ext>
            </a:extLst>
          </p:cNvPr>
          <p:cNvSpPr/>
          <p:nvPr/>
        </p:nvSpPr>
        <p:spPr>
          <a:xfrm>
            <a:off x="2895600" y="2580005"/>
            <a:ext cx="1301305" cy="654995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Database</a:t>
            </a: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E8EBFC80-EA03-AC64-3BD9-2BC5B1C438FB}"/>
              </a:ext>
            </a:extLst>
          </p:cNvPr>
          <p:cNvSpPr/>
          <p:nvPr/>
        </p:nvSpPr>
        <p:spPr>
          <a:xfrm>
            <a:off x="4376610" y="2619983"/>
            <a:ext cx="1044102" cy="56420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Arrow</a:t>
            </a:r>
          </a:p>
        </p:txBody>
      </p:sp>
      <p:sp>
        <p:nvSpPr>
          <p:cNvPr id="14" name="Pfeil: nach rechts gekrümmt 13">
            <a:extLst>
              <a:ext uri="{FF2B5EF4-FFF2-40B4-BE49-F238E27FC236}">
                <a16:creationId xmlns:a16="http://schemas.microsoft.com/office/drawing/2014/main" id="{686153DA-3808-52FA-E327-7ACF2BA19AF4}"/>
              </a:ext>
            </a:extLst>
          </p:cNvPr>
          <p:cNvSpPr/>
          <p:nvPr/>
        </p:nvSpPr>
        <p:spPr>
          <a:xfrm>
            <a:off x="185958" y="2825879"/>
            <a:ext cx="754381" cy="1336999"/>
          </a:xfrm>
          <a:prstGeom prst="curv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Pfeil: Fünfeck 14">
            <a:extLst>
              <a:ext uri="{FF2B5EF4-FFF2-40B4-BE49-F238E27FC236}">
                <a16:creationId xmlns:a16="http://schemas.microsoft.com/office/drawing/2014/main" id="{86D7ADAB-6DE5-6602-C13E-EE8E83CC6B6B}"/>
              </a:ext>
            </a:extLst>
          </p:cNvPr>
          <p:cNvSpPr/>
          <p:nvPr/>
        </p:nvSpPr>
        <p:spPr>
          <a:xfrm>
            <a:off x="1111885" y="3741906"/>
            <a:ext cx="1080081" cy="585254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Start</a:t>
            </a:r>
          </a:p>
        </p:txBody>
      </p:sp>
      <p:sp>
        <p:nvSpPr>
          <p:cNvPr id="16" name="Pfeil: Chevron 15">
            <a:extLst>
              <a:ext uri="{FF2B5EF4-FFF2-40B4-BE49-F238E27FC236}">
                <a16:creationId xmlns:a16="http://schemas.microsoft.com/office/drawing/2014/main" id="{10C276CE-BA15-8D8D-29B2-A9D60B5364D1}"/>
              </a:ext>
            </a:extLst>
          </p:cNvPr>
          <p:cNvSpPr/>
          <p:nvPr/>
        </p:nvSpPr>
        <p:spPr>
          <a:xfrm>
            <a:off x="2028783" y="3722450"/>
            <a:ext cx="1777974" cy="654995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next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step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0599436-4ABE-EEFB-6ACA-8ACC67106754}"/>
              </a:ext>
            </a:extLst>
          </p:cNvPr>
          <p:cNvSpPr/>
          <p:nvPr/>
        </p:nvSpPr>
        <p:spPr>
          <a:xfrm>
            <a:off x="3443591" y="1836691"/>
            <a:ext cx="1757464" cy="4875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Sechseck 19">
            <a:extLst>
              <a:ext uri="{FF2B5EF4-FFF2-40B4-BE49-F238E27FC236}">
                <a16:creationId xmlns:a16="http://schemas.microsoft.com/office/drawing/2014/main" id="{CBE767B8-0269-FE5E-B1E7-C8F1584B3307}"/>
              </a:ext>
            </a:extLst>
          </p:cNvPr>
          <p:cNvSpPr/>
          <p:nvPr/>
        </p:nvSpPr>
        <p:spPr>
          <a:xfrm>
            <a:off x="1034064" y="4611254"/>
            <a:ext cx="1044000" cy="1044000"/>
          </a:xfrm>
          <a:prstGeom prst="hex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Sechs-eck</a:t>
            </a:r>
          </a:p>
        </p:txBody>
      </p:sp>
      <p:sp>
        <p:nvSpPr>
          <p:cNvPr id="21" name="Achteck 20">
            <a:extLst>
              <a:ext uri="{FF2B5EF4-FFF2-40B4-BE49-F238E27FC236}">
                <a16:creationId xmlns:a16="http://schemas.microsoft.com/office/drawing/2014/main" id="{7B539BA9-A3F9-3D8C-0768-B4F76252A456}"/>
              </a:ext>
            </a:extLst>
          </p:cNvPr>
          <p:cNvSpPr/>
          <p:nvPr/>
        </p:nvSpPr>
        <p:spPr>
          <a:xfrm>
            <a:off x="2211563" y="4605706"/>
            <a:ext cx="1044103" cy="1044000"/>
          </a:xfrm>
          <a:prstGeom prst="oc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Acht-eck</a:t>
            </a:r>
          </a:p>
        </p:txBody>
      </p:sp>
      <p:sp>
        <p:nvSpPr>
          <p:cNvPr id="22" name="Denkblase: wolkenförmig 21">
            <a:extLst>
              <a:ext uri="{FF2B5EF4-FFF2-40B4-BE49-F238E27FC236}">
                <a16:creationId xmlns:a16="http://schemas.microsoft.com/office/drawing/2014/main" id="{5898BF56-37E8-6CE2-BA36-0525D1E0BDF4}"/>
              </a:ext>
            </a:extLst>
          </p:cNvPr>
          <p:cNvSpPr/>
          <p:nvPr/>
        </p:nvSpPr>
        <p:spPr>
          <a:xfrm>
            <a:off x="5068901" y="3307404"/>
            <a:ext cx="1386191" cy="600230"/>
          </a:xfrm>
          <a:prstGeom prst="cloudCallout">
            <a:avLst>
              <a:gd name="adj1" fmla="val -56945"/>
              <a:gd name="adj2" fmla="val 5360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Wolke </a:t>
            </a:r>
            <a:r>
              <a:rPr lang="de-DE" sz="1100" dirty="0"/>
              <a:t>mit</a:t>
            </a:r>
            <a:endParaRPr lang="de-DE" dirty="0"/>
          </a:p>
        </p:txBody>
      </p:sp>
      <p:sp>
        <p:nvSpPr>
          <p:cNvPr id="23" name="Wolke 22">
            <a:extLst>
              <a:ext uri="{FF2B5EF4-FFF2-40B4-BE49-F238E27FC236}">
                <a16:creationId xmlns:a16="http://schemas.microsoft.com/office/drawing/2014/main" id="{F69E33B3-2B9B-198D-97DD-C69CD358A102}"/>
              </a:ext>
            </a:extLst>
          </p:cNvPr>
          <p:cNvSpPr/>
          <p:nvPr/>
        </p:nvSpPr>
        <p:spPr>
          <a:xfrm>
            <a:off x="5102378" y="4057650"/>
            <a:ext cx="1186441" cy="640431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Wolke </a:t>
            </a:r>
            <a:r>
              <a:rPr lang="de-DE" sz="1100" dirty="0"/>
              <a:t>ohne</a:t>
            </a:r>
            <a:endParaRPr lang="de-DE" dirty="0"/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6F8172DD-CB4B-E453-740E-B2C3B65FE099}"/>
              </a:ext>
            </a:extLst>
          </p:cNvPr>
          <p:cNvSpPr/>
          <p:nvPr/>
        </p:nvSpPr>
        <p:spPr>
          <a:xfrm>
            <a:off x="3252415" y="4763461"/>
            <a:ext cx="1152000" cy="898039"/>
          </a:xfrm>
          <a:prstGeom prst="triangl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b" anchorCtr="0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dirty="0"/>
              <a:t>Dreieck</a:t>
            </a:r>
          </a:p>
        </p:txBody>
      </p:sp>
      <p:sp>
        <p:nvSpPr>
          <p:cNvPr id="25" name="Stern: 7 Zacken 24">
            <a:extLst>
              <a:ext uri="{FF2B5EF4-FFF2-40B4-BE49-F238E27FC236}">
                <a16:creationId xmlns:a16="http://schemas.microsoft.com/office/drawing/2014/main" id="{22B2BE46-97A6-E047-0CD8-E82F25A480B6}"/>
              </a:ext>
            </a:extLst>
          </p:cNvPr>
          <p:cNvSpPr/>
          <p:nvPr/>
        </p:nvSpPr>
        <p:spPr>
          <a:xfrm>
            <a:off x="4288453" y="4674770"/>
            <a:ext cx="1044000" cy="799136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Stern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D884239-E192-39A9-4082-3854E363993B}"/>
              </a:ext>
            </a:extLst>
          </p:cNvPr>
          <p:cNvSpPr/>
          <p:nvPr/>
        </p:nvSpPr>
        <p:spPr>
          <a:xfrm>
            <a:off x="5430446" y="4899038"/>
            <a:ext cx="792000" cy="7920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Kreis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8E85AD48-25DE-ADFF-00CD-089884BCA020}"/>
              </a:ext>
            </a:extLst>
          </p:cNvPr>
          <p:cNvSpPr/>
          <p:nvPr/>
        </p:nvSpPr>
        <p:spPr>
          <a:xfrm>
            <a:off x="5297040" y="744628"/>
            <a:ext cx="792000" cy="792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Venn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67C0764-6236-4C84-1504-7B4BD5B92592}"/>
              </a:ext>
            </a:extLst>
          </p:cNvPr>
          <p:cNvSpPr/>
          <p:nvPr/>
        </p:nvSpPr>
        <p:spPr>
          <a:xfrm>
            <a:off x="5761996" y="349196"/>
            <a:ext cx="792000" cy="792000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Dia-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AF3DC4C-D997-3F74-BC3C-E5571C8EDBBC}"/>
              </a:ext>
            </a:extLst>
          </p:cNvPr>
          <p:cNvSpPr/>
          <p:nvPr/>
        </p:nvSpPr>
        <p:spPr>
          <a:xfrm>
            <a:off x="5892819" y="936598"/>
            <a:ext cx="792000" cy="79200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58C045A-068B-DA61-D0D9-0EFC49ADB651}"/>
              </a:ext>
            </a:extLst>
          </p:cNvPr>
          <p:cNvSpPr txBox="1"/>
          <p:nvPr/>
        </p:nvSpPr>
        <p:spPr>
          <a:xfrm>
            <a:off x="5892819" y="1184693"/>
            <a:ext cx="84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gramm</a:t>
            </a:r>
            <a:endParaRPr lang="de-D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528AE-515E-C732-4B7B-0284D396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vision</a:t>
            </a:r>
            <a:r>
              <a:rPr lang="de-DE" dirty="0"/>
              <a:t> / </a:t>
            </a: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putting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all </a:t>
            </a:r>
            <a:r>
              <a:rPr lang="de-DE" dirty="0" err="1"/>
              <a:t>together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521C66-6821-7280-F444-E1987EB97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Prof. Dr. René Peinl | Winter Term 2025/26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CAA3F8-A719-071B-8ADC-11DFFB5B4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22599"/>
            <a:ext cx="382803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DAD67A-2FCA-A441-B907-1B1DD4930EB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0F55098-BFFC-0F49-A616-CA0786255F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7C73693-3669-75FD-8DB6-D98FDC029C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D35D21B-85F8-3143-1E5E-A2D79ECC3D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4D9E609-8386-50E2-EFAB-5AB28AC254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B1BA469-1810-C2B4-AEAF-DC7915F84DE4}"/>
              </a:ext>
            </a:extLst>
          </p:cNvPr>
          <p:cNvSpPr/>
          <p:nvPr/>
        </p:nvSpPr>
        <p:spPr>
          <a:xfrm>
            <a:off x="5847625" y="2791266"/>
            <a:ext cx="1074656" cy="19230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dirty="0"/>
              <a:t>LLM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3DE9267-CA32-8C91-EAF1-1D90B9B73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77" y="1794812"/>
            <a:ext cx="819264" cy="8192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66130F6-D947-B99F-1896-94C2C190A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10" y="2858897"/>
            <a:ext cx="809738" cy="76210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92CE5BD-2C04-F78D-FCDB-3D6E5540D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472" y="3862393"/>
            <a:ext cx="762106" cy="7811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EFBBA22-FCA1-9BC6-FD09-FECCC26F23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001"/>
          <a:stretch/>
        </p:blipFill>
        <p:spPr>
          <a:xfrm>
            <a:off x="1311612" y="4951621"/>
            <a:ext cx="691729" cy="683837"/>
          </a:xfrm>
          <a:prstGeom prst="roundRect">
            <a:avLst>
              <a:gd name="adj" fmla="val 22175"/>
            </a:avLst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609012D-8031-D22D-7A1D-3E1637B5955E}"/>
              </a:ext>
            </a:extLst>
          </p:cNvPr>
          <p:cNvSpPr txBox="1"/>
          <p:nvPr/>
        </p:nvSpPr>
        <p:spPr>
          <a:xfrm>
            <a:off x="568545" y="205037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Text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37BA446-3600-4EE2-6BCB-A6A10D0CDDFD}"/>
              </a:ext>
            </a:extLst>
          </p:cNvPr>
          <p:cNvSpPr txBox="1"/>
          <p:nvPr/>
        </p:nvSpPr>
        <p:spPr>
          <a:xfrm>
            <a:off x="418521" y="3093985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AE93FBA-D398-9900-4982-D72D3EEEC507}"/>
              </a:ext>
            </a:extLst>
          </p:cNvPr>
          <p:cNvSpPr txBox="1"/>
          <p:nvPr/>
        </p:nvSpPr>
        <p:spPr>
          <a:xfrm>
            <a:off x="496296" y="4068963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Audio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3A0BDE6-8531-72C0-F7A2-5920FB85D395}"/>
              </a:ext>
            </a:extLst>
          </p:cNvPr>
          <p:cNvSpPr txBox="1"/>
          <p:nvPr/>
        </p:nvSpPr>
        <p:spPr>
          <a:xfrm>
            <a:off x="392023" y="5119591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3D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data</a:t>
            </a:r>
            <a:endParaRPr lang="de-DE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408D9740-50D8-9D0C-264A-1688BEA43FA2}"/>
              </a:ext>
            </a:extLst>
          </p:cNvPr>
          <p:cNvSpPr/>
          <p:nvPr/>
        </p:nvSpPr>
        <p:spPr>
          <a:xfrm>
            <a:off x="2551353" y="2916789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Encoder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1854D006-7336-B228-D95B-43D330A873CA}"/>
              </a:ext>
            </a:extLst>
          </p:cNvPr>
          <p:cNvSpPr/>
          <p:nvPr/>
        </p:nvSpPr>
        <p:spPr>
          <a:xfrm>
            <a:off x="2540688" y="3929811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Encoder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3D3F1AA-2E7E-CD10-57A3-33B805774153}"/>
              </a:ext>
            </a:extLst>
          </p:cNvPr>
          <p:cNvSpPr/>
          <p:nvPr/>
        </p:nvSpPr>
        <p:spPr>
          <a:xfrm>
            <a:off x="3308251" y="1881283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Tokenizer</a:t>
            </a:r>
            <a:endParaRPr lang="de-DE" dirty="0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69FCCE6-1886-88F8-5DB5-D857A7FDC72B}"/>
              </a:ext>
            </a:extLst>
          </p:cNvPr>
          <p:cNvSpPr/>
          <p:nvPr/>
        </p:nvSpPr>
        <p:spPr>
          <a:xfrm>
            <a:off x="2551353" y="4951621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encoder</a:t>
            </a:r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FE36F4B2-4E4C-9412-30F5-A79B272269A8}"/>
              </a:ext>
            </a:extLst>
          </p:cNvPr>
          <p:cNvSpPr/>
          <p:nvPr/>
        </p:nvSpPr>
        <p:spPr>
          <a:xfrm>
            <a:off x="9163802" y="2916789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Diffusion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12033E1-7AE9-DE36-FAD9-29EA59230954}"/>
              </a:ext>
            </a:extLst>
          </p:cNvPr>
          <p:cNvSpPr/>
          <p:nvPr/>
        </p:nvSpPr>
        <p:spPr>
          <a:xfrm>
            <a:off x="9163802" y="3929811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Diffusion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97A05181-DAF1-2FF4-D1F4-8FE037B8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446" y="1794812"/>
            <a:ext cx="819264" cy="819264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8FB915A3-B967-C44C-ABB9-A280B84E1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209" y="2858897"/>
            <a:ext cx="809738" cy="762106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4EDB29E-5E41-BB40-3C59-315354B87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025" y="3862393"/>
            <a:ext cx="762106" cy="781159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52BB910E-B6D0-B275-248F-EE2BB4746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374" y="4931835"/>
            <a:ext cx="723408" cy="723408"/>
          </a:xfrm>
          <a:prstGeom prst="roundRect">
            <a:avLst>
              <a:gd name="adj" fmla="val 20987"/>
            </a:avLst>
          </a:prstGeom>
        </p:spPr>
      </p:pic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C3C274B0-D4DD-EB71-F4B7-7316AB2ACF9E}"/>
              </a:ext>
            </a:extLst>
          </p:cNvPr>
          <p:cNvSpPr/>
          <p:nvPr/>
        </p:nvSpPr>
        <p:spPr>
          <a:xfrm>
            <a:off x="9211886" y="4970378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creation</a:t>
            </a:r>
            <a:endParaRPr lang="de-DE" dirty="0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984A51D-D574-CAEB-C9B0-95DCEBAFE5B6}"/>
              </a:ext>
            </a:extLst>
          </p:cNvPr>
          <p:cNvCxnSpPr>
            <a:stCxn id="11" idx="3"/>
            <a:endCxn id="21" idx="1"/>
          </p:cNvCxnSpPr>
          <p:nvPr/>
        </p:nvCxnSpPr>
        <p:spPr>
          <a:xfrm>
            <a:off x="2003341" y="2204444"/>
            <a:ext cx="1304910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4CA2C1E0-26BF-B00D-5544-194C088551E7}"/>
              </a:ext>
            </a:extLst>
          </p:cNvPr>
          <p:cNvCxnSpPr>
            <a:cxnSpLocks/>
          </p:cNvCxnSpPr>
          <p:nvPr/>
        </p:nvCxnSpPr>
        <p:spPr>
          <a:xfrm>
            <a:off x="4542715" y="2220393"/>
            <a:ext cx="1304016" cy="70779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D9E77C9-4D4E-8B8F-3A61-70808C878251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2050148" y="3239950"/>
            <a:ext cx="501205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36CE184A-7E01-5740-E2F0-CBE575272261}"/>
              </a:ext>
            </a:extLst>
          </p:cNvPr>
          <p:cNvCxnSpPr>
            <a:cxnSpLocks/>
          </p:cNvCxnSpPr>
          <p:nvPr/>
        </p:nvCxnSpPr>
        <p:spPr>
          <a:xfrm flipV="1">
            <a:off x="3774850" y="3217466"/>
            <a:ext cx="2069345" cy="2248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3B5970C1-B851-9043-03D6-C11766A17ED1}"/>
              </a:ext>
            </a:extLst>
          </p:cNvPr>
          <p:cNvCxnSpPr>
            <a:cxnSpLocks/>
          </p:cNvCxnSpPr>
          <p:nvPr/>
        </p:nvCxnSpPr>
        <p:spPr>
          <a:xfrm flipV="1">
            <a:off x="3774850" y="4252607"/>
            <a:ext cx="2069345" cy="2248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6212D8C-2D0E-85AB-6236-FC546E59B266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2053578" y="4252973"/>
            <a:ext cx="48711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FCB266B-5C17-BC56-0A3C-DBEC28B34DA2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 flipV="1">
            <a:off x="2003341" y="5274783"/>
            <a:ext cx="548012" cy="1875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5706A990-66E7-5992-E84F-F6831A6F14C6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6922281" y="2204444"/>
            <a:ext cx="3819165" cy="65445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3F841B8-08A6-624D-C41D-F4C6B70F5EA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6963727" y="4252607"/>
            <a:ext cx="2200075" cy="36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9C67D6D-B81F-F3F4-FCB1-85724217259A}"/>
              </a:ext>
            </a:extLst>
          </p:cNvPr>
          <p:cNvCxnSpPr>
            <a:cxnSpLocks/>
          </p:cNvCxnSpPr>
          <p:nvPr/>
        </p:nvCxnSpPr>
        <p:spPr>
          <a:xfrm>
            <a:off x="6943004" y="3226078"/>
            <a:ext cx="2200075" cy="36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7DE08874-5E50-B54C-720D-2F9471D10308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 flipV="1">
            <a:off x="10397372" y="3239950"/>
            <a:ext cx="348837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2E61FFEE-51A9-44B3-D792-A6C0FCFCB6D1}"/>
              </a:ext>
            </a:extLst>
          </p:cNvPr>
          <p:cNvCxnSpPr>
            <a:cxnSpLocks/>
          </p:cNvCxnSpPr>
          <p:nvPr/>
        </p:nvCxnSpPr>
        <p:spPr>
          <a:xfrm flipV="1">
            <a:off x="10421188" y="4275091"/>
            <a:ext cx="348837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BC75872-7B49-576A-855B-EE7D0FB7783B}"/>
              </a:ext>
            </a:extLst>
          </p:cNvPr>
          <p:cNvCxnSpPr>
            <a:cxnSpLocks/>
          </p:cNvCxnSpPr>
          <p:nvPr/>
        </p:nvCxnSpPr>
        <p:spPr>
          <a:xfrm flipV="1">
            <a:off x="10433066" y="5261009"/>
            <a:ext cx="348837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1E84B9AD-3E9E-3F0F-1B4B-2E46F752F123}"/>
              </a:ext>
            </a:extLst>
          </p:cNvPr>
          <p:cNvSpPr/>
          <p:nvPr/>
        </p:nvSpPr>
        <p:spPr>
          <a:xfrm>
            <a:off x="8788265" y="1982182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Text Decoder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3B3B37A-0BE2-63C5-0CC2-2C939B2F1D5F}"/>
              </a:ext>
            </a:extLst>
          </p:cNvPr>
          <p:cNvSpPr/>
          <p:nvPr/>
        </p:nvSpPr>
        <p:spPr>
          <a:xfrm>
            <a:off x="4069074" y="2916789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Input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2F3559B-CE52-B9FD-38BA-6BF70338A5F7}"/>
              </a:ext>
            </a:extLst>
          </p:cNvPr>
          <p:cNvSpPr/>
          <p:nvPr/>
        </p:nvSpPr>
        <p:spPr>
          <a:xfrm>
            <a:off x="4069074" y="3929811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Input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2BE9B507-12D0-D226-AB88-D034D652B9E9}"/>
              </a:ext>
            </a:extLst>
          </p:cNvPr>
          <p:cNvSpPr/>
          <p:nvPr/>
        </p:nvSpPr>
        <p:spPr>
          <a:xfrm>
            <a:off x="7162812" y="2916789"/>
            <a:ext cx="1652154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Output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A8692AB-9F80-27F9-8DC6-32ACB75E6C62}"/>
              </a:ext>
            </a:extLst>
          </p:cNvPr>
          <p:cNvSpPr/>
          <p:nvPr/>
        </p:nvSpPr>
        <p:spPr>
          <a:xfrm>
            <a:off x="7250244" y="3929811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Output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54" name="Bogen 53">
            <a:extLst>
              <a:ext uri="{FF2B5EF4-FFF2-40B4-BE49-F238E27FC236}">
                <a16:creationId xmlns:a16="http://schemas.microsoft.com/office/drawing/2014/main" id="{5DBB6488-68E4-3BA4-01B6-47008398264E}"/>
              </a:ext>
            </a:extLst>
          </p:cNvPr>
          <p:cNvSpPr/>
          <p:nvPr/>
        </p:nvSpPr>
        <p:spPr>
          <a:xfrm rot="11310383">
            <a:off x="6715428" y="4227474"/>
            <a:ext cx="3073149" cy="1114931"/>
          </a:xfrm>
          <a:prstGeom prst="arc">
            <a:avLst>
              <a:gd name="adj1" fmla="val 12088032"/>
              <a:gd name="adj2" fmla="val 2121860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768948AF-F9E9-83C2-7D4C-51247ACD1E05}"/>
              </a:ext>
            </a:extLst>
          </p:cNvPr>
          <p:cNvSpPr/>
          <p:nvPr/>
        </p:nvSpPr>
        <p:spPr>
          <a:xfrm>
            <a:off x="7276944" y="4970378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</a:t>
            </a:r>
            <a:r>
              <a:rPr lang="de-DE" dirty="0" err="1"/>
              <a:t>mesh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proj</a:t>
            </a:r>
            <a:r>
              <a:rPr lang="de-DE" dirty="0"/>
              <a:t>.</a:t>
            </a:r>
          </a:p>
        </p:txBody>
      </p:sp>
      <p:sp>
        <p:nvSpPr>
          <p:cNvPr id="56" name="Bogen 55">
            <a:extLst>
              <a:ext uri="{FF2B5EF4-FFF2-40B4-BE49-F238E27FC236}">
                <a16:creationId xmlns:a16="http://schemas.microsoft.com/office/drawing/2014/main" id="{BCB28C17-1887-6F80-DCCE-00A983D368DC}"/>
              </a:ext>
            </a:extLst>
          </p:cNvPr>
          <p:cNvSpPr/>
          <p:nvPr/>
        </p:nvSpPr>
        <p:spPr>
          <a:xfrm rot="9762531">
            <a:off x="3232044" y="4035152"/>
            <a:ext cx="3072748" cy="1114931"/>
          </a:xfrm>
          <a:prstGeom prst="arc">
            <a:avLst>
              <a:gd name="adj1" fmla="val 12088030"/>
              <a:gd name="adj2" fmla="val 2043795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7A07D311-D0BE-1221-37E9-797CF5F50B47}"/>
              </a:ext>
            </a:extLst>
          </p:cNvPr>
          <p:cNvSpPr/>
          <p:nvPr/>
        </p:nvSpPr>
        <p:spPr>
          <a:xfrm>
            <a:off x="4045548" y="4790040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Input </a:t>
            </a:r>
            <a:r>
              <a:rPr lang="de-DE" dirty="0" err="1"/>
              <a:t>Projection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156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D6D13-4284-3930-5772-68D48E52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83351" cy="773872"/>
          </a:xfrm>
        </p:spPr>
        <p:txBody>
          <a:bodyPr anchor="ctr">
            <a:normAutofit/>
          </a:bodyPr>
          <a:lstStyle/>
          <a:p>
            <a:r>
              <a:rPr lang="de-DE" dirty="0"/>
              <a:t>Connect </a:t>
            </a:r>
            <a:r>
              <a:rPr lang="de-DE" dirty="0" err="1"/>
              <a:t>four</a:t>
            </a:r>
            <a:r>
              <a:rPr lang="de-DE" dirty="0"/>
              <a:t> –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own </a:t>
            </a:r>
            <a:r>
              <a:rPr lang="de-DE" dirty="0" err="1"/>
              <a:t>finetunes</a:t>
            </a:r>
            <a:r>
              <a:rPr lang="de-DE" dirty="0"/>
              <a:t> and </a:t>
            </a:r>
            <a:r>
              <a:rPr lang="de-DE" dirty="0" err="1"/>
              <a:t>experiments</a:t>
            </a:r>
            <a:endParaRPr lang="de-DE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D5F5680-EEDC-B5A7-37CA-3F1538E70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4735" y="6496050"/>
            <a:ext cx="4811053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CA458D-A9C1-D8D9-4512-3F2CDDBF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28" y="6356350"/>
            <a:ext cx="758072" cy="3683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7BB238E-5C54-2B57-2968-EFBF184F11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05246"/>
          <a:ext cx="10515605" cy="4590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320">
                  <a:extLst>
                    <a:ext uri="{9D8B030D-6E8A-4147-A177-3AD203B41FA5}">
                      <a16:colId xmlns:a16="http://schemas.microsoft.com/office/drawing/2014/main" val="3551312311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799169747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34136849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3901097112"/>
                    </a:ext>
                  </a:extLst>
                </a:gridCol>
                <a:gridCol w="1007798">
                  <a:extLst>
                    <a:ext uri="{9D8B030D-6E8A-4147-A177-3AD203B41FA5}">
                      <a16:colId xmlns:a16="http://schemas.microsoft.com/office/drawing/2014/main" val="1326902825"/>
                    </a:ext>
                  </a:extLst>
                </a:gridCol>
                <a:gridCol w="913932">
                  <a:extLst>
                    <a:ext uri="{9D8B030D-6E8A-4147-A177-3AD203B41FA5}">
                      <a16:colId xmlns:a16="http://schemas.microsoft.com/office/drawing/2014/main" val="324811700"/>
                    </a:ext>
                  </a:extLst>
                </a:gridCol>
                <a:gridCol w="913932">
                  <a:extLst>
                    <a:ext uri="{9D8B030D-6E8A-4147-A177-3AD203B41FA5}">
                      <a16:colId xmlns:a16="http://schemas.microsoft.com/office/drawing/2014/main" val="2113310485"/>
                    </a:ext>
                  </a:extLst>
                </a:gridCol>
                <a:gridCol w="1263279">
                  <a:extLst>
                    <a:ext uri="{9D8B030D-6E8A-4147-A177-3AD203B41FA5}">
                      <a16:colId xmlns:a16="http://schemas.microsoft.com/office/drawing/2014/main" val="3943660061"/>
                    </a:ext>
                  </a:extLst>
                </a:gridCol>
                <a:gridCol w="1045229">
                  <a:extLst>
                    <a:ext uri="{9D8B030D-6E8A-4147-A177-3AD203B41FA5}">
                      <a16:colId xmlns:a16="http://schemas.microsoft.com/office/drawing/2014/main" val="4225480225"/>
                    </a:ext>
                  </a:extLst>
                </a:gridCol>
                <a:gridCol w="1007715">
                  <a:extLst>
                    <a:ext uri="{9D8B030D-6E8A-4147-A177-3AD203B41FA5}">
                      <a16:colId xmlns:a16="http://schemas.microsoft.com/office/drawing/2014/main" val="4140163840"/>
                    </a:ext>
                  </a:extLst>
                </a:gridCol>
              </a:tblGrid>
              <a:tr h="808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finetune level 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finetune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coords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coords2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threat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final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final fix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r64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Question type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num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train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questions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num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test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questions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extLst>
                  <a:ext uri="{0D108BD9-81ED-4DB2-BD59-A6C34878D82A}">
                    <a16:rowId xmlns:a16="http://schemas.microsoft.com/office/drawing/2014/main" val="390128556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95.2%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68.4%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board state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799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304653528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6.9%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legal moves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635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47124818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threats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607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457553411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11.8%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11.8%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75.0%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next move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341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1068535666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36.4%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win / loose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200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5111529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520613125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90.6%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81.3%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65.0%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row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764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26435184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74.3%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68.8%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88.2%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column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774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003773239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5.1%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diagonal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735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990467119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64.9%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67.6%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coordinate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764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370138220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56.7%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58.8%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67.6%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count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767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887992337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33.6%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37.6%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>
                          <a:effectLst/>
                        </a:rPr>
                        <a:t>43.3%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52.1%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>
                          <a:effectLst/>
                        </a:rPr>
                        <a:t>54.8%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>
                          <a:effectLst/>
                        </a:rPr>
                        <a:t>59.6%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76.6%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 err="1">
                          <a:effectLst/>
                        </a:rPr>
                        <a:t>avg</a:t>
                      </a:r>
                      <a:r>
                        <a:rPr lang="de-DE" sz="1600" b="1" u="none" strike="noStrike" dirty="0">
                          <a:effectLst/>
                        </a:rPr>
                        <a:t> / total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6403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376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426344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71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#4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YRQ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10062210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Try to play the game using the http API</a:t>
            </a:r>
          </a:p>
          <a:p>
            <a:pPr>
              <a:defRPr lang="de-de"/>
            </a:pPr>
            <a:r>
              <a:t>Base URL is http://localhost:8000</a:t>
            </a:r>
          </a:p>
          <a:p>
            <a:pPr>
              <a:defRPr lang="de-de"/>
            </a:pPr>
            <a:r>
              <a:t>GET /four-wins?move=&lt;Letter&gt;      to make your move</a:t>
            </a:r>
          </a:p>
          <a:p>
            <a:pPr>
              <a:defRPr lang="de-de"/>
            </a:pPr>
            <a:r>
              <a:t>POST  /four-wins   to start all over with a new game</a:t>
            </a:r>
          </a:p>
          <a:p>
            <a:pPr>
              <a:defRPr lang="de-de"/>
            </a:pPr>
            <a:r>
              <a:t>Note that the game is not multi-player ready.</a:t>
            </a:r>
          </a:p>
          <a:p>
            <a:pPr>
              <a:defRPr lang="de-de"/>
            </a:pPr>
            <a:r>
              <a:t>Inspect the jsonl file and the screenshots 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7A60-2EFA-188C-B4F5-D8D934BB428D}" type="slidenum">
              <a:t>11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L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8EAAAqHQAAM0gAAF4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740910"/>
            <a:ext cx="10965180" cy="13335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Grafik 12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wxAAC8BwAAM0gAAPQ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084820" y="1257300"/>
            <a:ext cx="3651885" cy="32867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#5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ExsAACkMAABoRQAAKSYAABAAAAAmAAAACAAAAAGAAAAAAAAA"/>
              </a:ext>
            </a:extLst>
          </p:cNvSpPr>
          <p:nvPr>
            <p:ph type="body" idx="17"/>
          </p:nvPr>
        </p:nvSpPr>
        <p:spPr>
          <a:xfrm>
            <a:off x="4401185" y="1976755"/>
            <a:ext cx="6881495" cy="422656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Create a few question templates (3-5) for training of a VLM to get better at playing the connect four game</a:t>
            </a:r>
          </a:p>
          <a:p>
            <a:pPr>
              <a:defRPr lang="de-de"/>
            </a:pPr>
            <a:r>
              <a:t>Parse the jsonl files and generate image / question + answer pairs based on the question templates and the raw data recorded. Use JSONL for your results </a:t>
            </a:r>
          </a:p>
          <a:p>
            <a:pPr>
              <a:defRPr lang="de-de"/>
            </a:pPr>
            <a:r>
              <a:t>What other kind of metadata would you wish for in order to generate better questions or to more easily generate questions?</a:t>
            </a:r>
          </a:p>
          <a:p>
            <a:pPr>
              <a:defRPr lang="de-de"/>
            </a:pPr>
            <a:r>
              <a:t>How easy / hard would it be to log that kind of metadata in the game?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7DA4-EAFA-188B-B4F5-1CDE33BB4249}" type="slidenum">
              <a:t>12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J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sBAAC4DAAAZRoAAN0i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" y="2067560"/>
            <a:ext cx="3999230" cy="35998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Rechteck: abgerundete Ecken 1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QAAAA0AAAAAkAAAAEgAAACQAAAASAAAAAAAAAABAAAAAAAAAAEAAABQAAAAAAAAAAAA8D8AAAAAAAAAAA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qXBg0t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DcAAAA/78A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qXBgZ/f38A5+bmA8zMzAD/vwAAf39/AAAAAAAAAAAAAAAAAAAAAAAAAAAAIQAAABgAAAAUAAAAOg4AABcSAABwEQAAliMAABAAAAAmAAAACAAAAP//////////"/>
              </a:ext>
            </a:extLst>
          </p:cNvSpPr>
          <p:nvPr/>
        </p:nvSpPr>
        <p:spPr>
          <a:xfrm rot="18891963">
            <a:off x="1151890" y="4101465"/>
            <a:ext cx="2844165" cy="521970"/>
          </a:xfrm>
          <a:prstGeom prst="roundRect">
            <a:avLst>
              <a:gd name="adj" fmla="val 50000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headEnd type="none"/>
            <a:tailEnd type="none"/>
          </a:ln>
          <a:effectLst>
            <a:glow rad="139700">
              <a:srgbClr val="FFBF00">
                <a:alpha val="40000"/>
              </a:srgbClr>
            </a:glo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#6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C7SA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1053147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Review the refactored version of the game and think about the benefits of the changes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37C3-8DFA-18C1-B4F5-7B9479BB422E}" type="slidenum">
              <a:rPr/>
              <a:t>13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MCAAAqEQAAnx8AAFQj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57505" y="2790190"/>
            <a:ext cx="4782820" cy="29527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Grafik 1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YgAADtEQAAmEgAAFQj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256530" y="2914015"/>
            <a:ext cx="6544310" cy="28289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FA9706"/>
      </a:accent2>
      <a:accent3>
        <a:srgbClr val="A5A5A5"/>
      </a:accent3>
      <a:accent4>
        <a:srgbClr val="FFC000"/>
      </a:accent4>
      <a:accent5>
        <a:srgbClr val="FE3232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Sora"/>
        <a:ea typeface="Sora"/>
        <a:cs typeface="Sora"/>
      </a:majorFont>
      <a:minorFont>
        <a:latin typeface="Source Sans Pro"/>
        <a:ea typeface="Source Sans Pro"/>
        <a:cs typeface="Source Sans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FA9706"/>
        </a:accent2>
        <a:accent3>
          <a:srgbClr val="A5A5A5"/>
        </a:accent3>
        <a:accent4>
          <a:srgbClr val="FFC000"/>
        </a:accent4>
        <a:accent5>
          <a:srgbClr val="FE3232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FA9706"/>
        </a:accent2>
        <a:accent3>
          <a:srgbClr val="A5A5A5"/>
        </a:accent3>
        <a:accent4>
          <a:srgbClr val="FFC000"/>
        </a:accent4>
        <a:accent5>
          <a:srgbClr val="FE3232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Sora"/>
        <a:ea typeface="Sora"/>
        <a:cs typeface="Sora"/>
      </a:majorFont>
      <a:minorFont>
        <a:latin typeface="Source Sans Pro"/>
        <a:ea typeface="Source Sans Pro"/>
        <a:cs typeface="Source Sans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Sora"/>
        <a:ea typeface="Sora"/>
        <a:cs typeface="Sora"/>
      </a:majorFont>
      <a:minorFont>
        <a:latin typeface="Source Sans Pro"/>
        <a:ea typeface="Source Sans Pro"/>
        <a:cs typeface="Source Sans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FA9706"/>
    </a:accent2>
    <a:accent3>
      <a:srgbClr val="A5A5A5"/>
    </a:accent3>
    <a:accent4>
      <a:srgbClr val="FFC000"/>
    </a:accent4>
    <a:accent5>
      <a:srgbClr val="FE3232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FA9706"/>
    </a:accent2>
    <a:accent3>
      <a:srgbClr val="A5A5A5"/>
    </a:accent3>
    <a:accent4>
      <a:srgbClr val="FFC000"/>
    </a:accent4>
    <a:accent5>
      <a:srgbClr val="FE3232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966</Words>
  <Application>Microsoft Office PowerPoint</Application>
  <PresentationFormat>Widescreen</PresentationFormat>
  <Paragraphs>245</Paragraphs>
  <Slides>13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Aptos Narrow</vt:lpstr>
      <vt:lpstr>Arial</vt:lpstr>
      <vt:lpstr>Calibri</vt:lpstr>
      <vt:lpstr>Lucida Console</vt:lpstr>
      <vt:lpstr>Sora</vt:lpstr>
      <vt:lpstr>Sora Light</vt:lpstr>
      <vt:lpstr>Source Sans Pro</vt:lpstr>
      <vt:lpstr>Source Sans Pro Light</vt:lpstr>
      <vt:lpstr>Source Sans Pro Semibold</vt:lpstr>
      <vt:lpstr>Symbol</vt:lpstr>
      <vt:lpstr>Systemschrift Normal</vt:lpstr>
      <vt:lpstr>Presentation</vt:lpstr>
      <vt:lpstr>PowerPoint Presentation</vt:lpstr>
      <vt:lpstr>Agenda</vt:lpstr>
      <vt:lpstr>The connect four game</vt:lpstr>
      <vt:lpstr>Computer opponent</vt:lpstr>
      <vt:lpstr>Task #1</vt:lpstr>
      <vt:lpstr>Task #2</vt:lpstr>
      <vt:lpstr>Solution for Task #2</vt:lpstr>
      <vt:lpstr>Task #3</vt:lpstr>
      <vt:lpstr>The vision / goal: putting it all together</vt:lpstr>
      <vt:lpstr>Connect four – results of own finetunes and experiments</vt:lpstr>
      <vt:lpstr>Task #4</vt:lpstr>
      <vt:lpstr>Task #5</vt:lpstr>
      <vt:lpstr>Task #6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Isabella Müller</dc:creator>
  <cp:keywords/>
  <dc:description/>
  <cp:lastModifiedBy>Aidin Kydyraliev</cp:lastModifiedBy>
  <cp:revision>15</cp:revision>
  <dcterms:created xsi:type="dcterms:W3CDTF">2021-02-15T08:56:04Z</dcterms:created>
  <dcterms:modified xsi:type="dcterms:W3CDTF">2026-06-22T12:34:21Z</dcterms:modified>
</cp:coreProperties>
</file>